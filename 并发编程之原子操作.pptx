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4" r:id="rId2"/>
    <p:sldId id="256" r:id="rId3"/>
    <p:sldId id="257" r:id="rId4"/>
    <p:sldId id="258" r:id="rId5"/>
    <p:sldId id="260" r:id="rId6"/>
    <p:sldId id="261" r:id="rId7"/>
    <p:sldId id="262" r:id="rId8"/>
    <p:sldId id="275" r:id="rId9"/>
    <p:sldId id="259" r:id="rId10"/>
    <p:sldId id="263" r:id="rId11"/>
    <p:sldId id="265" r:id="rId12"/>
    <p:sldId id="266" r:id="rId13"/>
    <p:sldId id="276" r:id="rId14"/>
    <p:sldId id="273" r:id="rId15"/>
    <p:sldId id="269" r:id="rId16"/>
    <p:sldId id="267" r:id="rId17"/>
    <p:sldId id="268" r:id="rId18"/>
    <p:sldId id="271" r:id="rId19"/>
    <p:sldId id="274" r:id="rId20"/>
    <p:sldId id="272"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10" autoAdjust="0"/>
  </p:normalViewPr>
  <p:slideViewPr>
    <p:cSldViewPr snapToGrid="0">
      <p:cViewPr varScale="1">
        <p:scale>
          <a:sx n="103" d="100"/>
          <a:sy n="103" d="100"/>
        </p:scale>
        <p:origin x="83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F446EA-405E-4766-AD7D-C70D359CB357}" type="datetimeFigureOut">
              <a:rPr lang="zh-CN" altLang="en-US" smtClean="0"/>
              <a:t>2016/7/8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A55BEF-A170-465B-A992-24CB9D18641E}" type="slidenum">
              <a:rPr lang="zh-CN" altLang="en-US" smtClean="0"/>
              <a:t>‹#›</a:t>
            </a:fld>
            <a:endParaRPr lang="zh-CN" altLang="en-US"/>
          </a:p>
        </p:txBody>
      </p:sp>
    </p:spTree>
    <p:extLst>
      <p:ext uri="{BB962C8B-B14F-4D97-AF65-F5344CB8AC3E}">
        <p14:creationId xmlns:p14="http://schemas.microsoft.com/office/powerpoint/2010/main" val="3028725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A55BEF-A170-465B-A992-24CB9D18641E}" type="slidenum">
              <a:rPr lang="zh-CN" altLang="en-US" smtClean="0"/>
              <a:t>3</a:t>
            </a:fld>
            <a:endParaRPr lang="zh-CN" altLang="en-US"/>
          </a:p>
        </p:txBody>
      </p:sp>
    </p:spTree>
    <p:extLst>
      <p:ext uri="{BB962C8B-B14F-4D97-AF65-F5344CB8AC3E}">
        <p14:creationId xmlns:p14="http://schemas.microsoft.com/office/powerpoint/2010/main" val="3318579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A55BEF-A170-465B-A992-24CB9D18641E}" type="slidenum">
              <a:rPr lang="zh-CN" altLang="en-US" smtClean="0"/>
              <a:t>8</a:t>
            </a:fld>
            <a:endParaRPr lang="zh-CN" altLang="en-US"/>
          </a:p>
        </p:txBody>
      </p:sp>
    </p:spTree>
    <p:extLst>
      <p:ext uri="{BB962C8B-B14F-4D97-AF65-F5344CB8AC3E}">
        <p14:creationId xmlns:p14="http://schemas.microsoft.com/office/powerpoint/2010/main" val="2015552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A55BEF-A170-465B-A992-24CB9D18641E}" type="slidenum">
              <a:rPr lang="zh-CN" altLang="en-US" smtClean="0"/>
              <a:t>12</a:t>
            </a:fld>
            <a:endParaRPr lang="zh-CN" altLang="en-US"/>
          </a:p>
        </p:txBody>
      </p:sp>
    </p:spTree>
    <p:extLst>
      <p:ext uri="{BB962C8B-B14F-4D97-AF65-F5344CB8AC3E}">
        <p14:creationId xmlns:p14="http://schemas.microsoft.com/office/powerpoint/2010/main" val="688424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http://tomoyo.osdn.jp/cgi-bin/lxr/source/arch/x86/include/asm/cmpxchg.h</a:t>
            </a:r>
          </a:p>
          <a:p>
            <a:endParaRPr lang="en-US" altLang="zh-CN" dirty="0" smtClean="0"/>
          </a:p>
          <a:p>
            <a:r>
              <a:rPr lang="zh-CN" altLang="en-US" sz="1200" b="0" i="0" u="none" strike="noStrike" kern="1200" baseline="0" dirty="0" smtClean="0">
                <a:solidFill>
                  <a:schemeClr val="tx1"/>
                </a:solidFill>
                <a:latin typeface="+mn-lt"/>
                <a:ea typeface="+mn-ea"/>
                <a:cs typeface="+mn-cs"/>
              </a:rPr>
              <a:t>第一句</a:t>
            </a:r>
            <a:r>
              <a:rPr lang="en-US" altLang="zh-CN" sz="1200" b="0" i="0" u="none" strike="noStrike" kern="1200" baseline="0" dirty="0" smtClean="0">
                <a:solidFill>
                  <a:schemeClr val="tx1"/>
                </a:solidFill>
                <a:latin typeface="+mn-lt"/>
                <a:ea typeface="+mn-ea"/>
                <a:cs typeface="+mn-cs"/>
              </a:rPr>
              <a:t>MPLOCKED</a:t>
            </a:r>
            <a:r>
              <a:rPr lang="zh-CN" altLang="en-US" sz="1200" b="0" i="0" u="none" strike="noStrike" kern="1200" baseline="0" dirty="0" smtClean="0">
                <a:solidFill>
                  <a:schemeClr val="tx1"/>
                </a:solidFill>
                <a:latin typeface="+mn-lt"/>
                <a:ea typeface="+mn-ea"/>
                <a:cs typeface="+mn-cs"/>
              </a:rPr>
              <a:t>其实是‘</a:t>
            </a:r>
            <a:r>
              <a:rPr lang="en-US" altLang="zh-CN" sz="1200" b="0" i="0" u="none" strike="noStrike" kern="1200" baseline="0" dirty="0" smtClean="0">
                <a:solidFill>
                  <a:schemeClr val="tx1"/>
                </a:solidFill>
                <a:latin typeface="+mn-lt"/>
                <a:ea typeface="+mn-ea"/>
                <a:cs typeface="+mn-cs"/>
              </a:rPr>
              <a:t>lock</a:t>
            </a:r>
            <a:r>
              <a:rPr lang="zh-CN" altLang="en-US" sz="1200" b="0" i="0" u="none" strike="noStrike" kern="1200" baseline="0" dirty="0" smtClean="0">
                <a:solidFill>
                  <a:schemeClr val="tx1"/>
                </a:solidFill>
                <a:latin typeface="+mn-lt"/>
                <a:ea typeface="+mn-ea"/>
                <a:cs typeface="+mn-cs"/>
              </a:rPr>
              <a:t>’指令，就是锁总线，确保同一时间只有一个</a:t>
            </a:r>
            <a:r>
              <a:rPr lang="en-US" altLang="zh-CN" sz="1200" b="0" i="0" u="none" strike="noStrike" kern="1200" baseline="0" dirty="0" smtClean="0">
                <a:solidFill>
                  <a:schemeClr val="tx1"/>
                </a:solidFill>
                <a:latin typeface="+mn-lt"/>
                <a:ea typeface="+mn-ea"/>
                <a:cs typeface="+mn-cs"/>
              </a:rPr>
              <a:t>CPU</a:t>
            </a:r>
            <a:r>
              <a:rPr lang="zh-CN" altLang="en-US" sz="1200" b="0" i="0" u="none" strike="noStrike" kern="1200" baseline="0" dirty="0" smtClean="0">
                <a:solidFill>
                  <a:schemeClr val="tx1"/>
                </a:solidFill>
                <a:latin typeface="+mn-lt"/>
                <a:ea typeface="+mn-ea"/>
                <a:cs typeface="+mn-cs"/>
              </a:rPr>
              <a:t>线程能写这块内存，然后是</a:t>
            </a:r>
            <a:r>
              <a:rPr lang="en-US" altLang="zh-CN" sz="1200" b="0" i="0" u="none" strike="noStrike" kern="1200" baseline="0" dirty="0" err="1" smtClean="0">
                <a:solidFill>
                  <a:schemeClr val="tx1"/>
                </a:solidFill>
                <a:latin typeface="+mn-lt"/>
                <a:ea typeface="+mn-ea"/>
                <a:cs typeface="+mn-cs"/>
              </a:rPr>
              <a:t>cmpxchgl</a:t>
            </a:r>
            <a:r>
              <a:rPr lang="zh-CN" altLang="en-US" sz="1200" b="0" i="0" u="none" strike="noStrike" kern="1200" baseline="0" dirty="0" smtClean="0">
                <a:solidFill>
                  <a:schemeClr val="tx1"/>
                </a:solidFill>
                <a:latin typeface="+mn-lt"/>
                <a:ea typeface="+mn-ea"/>
                <a:cs typeface="+mn-cs"/>
              </a:rPr>
              <a:t>指令，这个指令是原子的。写完之后，通过</a:t>
            </a:r>
            <a:r>
              <a:rPr lang="en-US" altLang="zh-CN" sz="1200" b="0" i="0" u="none" strike="noStrike" kern="1200" baseline="0" dirty="0" smtClean="0">
                <a:solidFill>
                  <a:schemeClr val="tx1"/>
                </a:solidFill>
                <a:latin typeface="+mn-lt"/>
                <a:ea typeface="+mn-ea"/>
                <a:cs typeface="+mn-cs"/>
              </a:rPr>
              <a:t>cache</a:t>
            </a:r>
            <a:r>
              <a:rPr lang="zh-CN" altLang="en-US" sz="1200" b="0" i="0" u="none" strike="noStrike" kern="1200" baseline="0" dirty="0" smtClean="0">
                <a:solidFill>
                  <a:schemeClr val="tx1"/>
                </a:solidFill>
                <a:latin typeface="+mn-lt"/>
                <a:ea typeface="+mn-ea"/>
                <a:cs typeface="+mn-cs"/>
              </a:rPr>
              <a:t>一致性模型保证所有核心看到和操作的是同一块实际内存的值而不是自己缓存内的值。最后一句 ‘</a:t>
            </a:r>
            <a:r>
              <a:rPr lang="en-US" altLang="zh-CN" sz="1200" b="0" i="0" u="none" strike="noStrike" kern="1200" baseline="0" dirty="0" smtClean="0">
                <a:solidFill>
                  <a:schemeClr val="tx1"/>
                </a:solidFill>
                <a:latin typeface="+mn-lt"/>
                <a:ea typeface="+mn-ea"/>
                <a:cs typeface="+mn-cs"/>
              </a:rPr>
              <a:t>:”memory” ’ </a:t>
            </a:r>
            <a:r>
              <a:rPr lang="zh-CN" altLang="en-US" sz="1200" b="0" i="0" u="none" strike="noStrike" kern="1200" baseline="0" dirty="0" smtClean="0">
                <a:solidFill>
                  <a:schemeClr val="tx1"/>
                </a:solidFill>
                <a:latin typeface="+mn-lt"/>
                <a:ea typeface="+mn-ea"/>
                <a:cs typeface="+mn-cs"/>
              </a:rPr>
              <a:t>是内存屏障，内存屏障属于顺序一致性的内容，参考第三节。用于比较并交换操作数，</a:t>
            </a:r>
          </a:p>
          <a:p>
            <a:r>
              <a:rPr lang="zh-CN" altLang="en-US" sz="1200" b="0" i="0" u="none" strike="noStrike" kern="1200" baseline="0" dirty="0" smtClean="0">
                <a:solidFill>
                  <a:schemeClr val="tx1"/>
                </a:solidFill>
                <a:latin typeface="+mn-lt"/>
                <a:ea typeface="+mn-ea"/>
                <a:cs typeface="+mn-cs"/>
              </a:rPr>
              <a:t>从这里也可以看出，原子操作原语的‘锁’实际上被移到了</a:t>
            </a:r>
            <a:r>
              <a:rPr lang="en-US" altLang="zh-CN" sz="1200" b="0" i="0" u="none" strike="noStrike" kern="1200" baseline="0" dirty="0" smtClean="0">
                <a:solidFill>
                  <a:schemeClr val="tx1"/>
                </a:solidFill>
                <a:latin typeface="+mn-lt"/>
                <a:ea typeface="+mn-ea"/>
                <a:cs typeface="+mn-cs"/>
              </a:rPr>
              <a:t>CPU</a:t>
            </a:r>
            <a:r>
              <a:rPr lang="zh-CN" altLang="en-US" sz="1200" b="0" i="0" u="none" strike="noStrike" kern="1200" baseline="0" dirty="0" smtClean="0">
                <a:solidFill>
                  <a:schemeClr val="tx1"/>
                </a:solidFill>
                <a:latin typeface="+mn-lt"/>
                <a:ea typeface="+mn-ea"/>
                <a:cs typeface="+mn-cs"/>
              </a:rPr>
              <a:t>内部实现。另外一个需要注意的是，目标内存</a:t>
            </a:r>
            <a:r>
              <a:rPr lang="en-US" altLang="zh-CN" sz="1200" b="0" i="0" u="none" strike="noStrike" kern="1200" baseline="0" dirty="0" err="1" smtClean="0">
                <a:solidFill>
                  <a:schemeClr val="tx1"/>
                </a:solidFill>
                <a:latin typeface="+mn-lt"/>
                <a:ea typeface="+mn-ea"/>
                <a:cs typeface="+mn-cs"/>
              </a:rPr>
              <a:t>dst</a:t>
            </a:r>
            <a:r>
              <a:rPr lang="zh-CN" altLang="en-US" sz="1200" b="0" i="0" u="none" strike="noStrike" kern="1200" baseline="0" dirty="0" smtClean="0">
                <a:solidFill>
                  <a:schemeClr val="tx1"/>
                </a:solidFill>
                <a:latin typeface="+mn-lt"/>
                <a:ea typeface="+mn-ea"/>
                <a:cs typeface="+mn-cs"/>
              </a:rPr>
              <a:t>必须是 </a:t>
            </a:r>
            <a:r>
              <a:rPr lang="en-US" altLang="zh-CN" sz="1200" b="0" i="0" u="none" strike="noStrike" kern="1200" baseline="0" dirty="0" smtClean="0">
                <a:solidFill>
                  <a:schemeClr val="tx1"/>
                </a:solidFill>
                <a:latin typeface="+mn-lt"/>
                <a:ea typeface="+mn-ea"/>
                <a:cs typeface="+mn-cs"/>
              </a:rPr>
              <a:t>volatile </a:t>
            </a:r>
            <a:r>
              <a:rPr lang="zh-CN" altLang="en-US" sz="1200" b="0" i="0" u="none" strike="noStrike" kern="1200" baseline="0" dirty="0" smtClean="0">
                <a:solidFill>
                  <a:schemeClr val="tx1"/>
                </a:solidFill>
                <a:latin typeface="+mn-lt"/>
                <a:ea typeface="+mn-ea"/>
                <a:cs typeface="+mn-cs"/>
              </a:rPr>
              <a:t>修饰的，意思是编译器每次遇到这个变量都必须从内存读值，而不能从核心自己的缓存或寄存器读值。 </a:t>
            </a:r>
          </a:p>
          <a:p>
            <a:r>
              <a:rPr lang="zh-CN" altLang="en-US" sz="1200" b="0" i="0" u="none" strike="noStrike" kern="1200" baseline="0" dirty="0" smtClean="0">
                <a:solidFill>
                  <a:schemeClr val="tx1"/>
                </a:solidFill>
                <a:latin typeface="+mn-lt"/>
                <a:ea typeface="+mn-ea"/>
                <a:cs typeface="+mn-cs"/>
              </a:rPr>
              <a:t>总结起来就是： </a:t>
            </a:r>
          </a:p>
          <a:p>
            <a:r>
              <a:rPr lang="en-US" altLang="zh-CN" sz="1200" b="1" i="0" u="none" strike="noStrike" kern="1200" baseline="0" dirty="0" smtClean="0">
                <a:solidFill>
                  <a:schemeClr val="tx1"/>
                </a:solidFill>
                <a:latin typeface="+mn-lt"/>
                <a:ea typeface="+mn-ea"/>
                <a:cs typeface="+mn-cs"/>
              </a:rPr>
              <a:t>volatile + lock</a:t>
            </a:r>
            <a:r>
              <a:rPr lang="zh-CN" altLang="en-US" sz="1200" b="0" i="0" u="none" strike="noStrike" kern="1200" baseline="0" dirty="0" smtClean="0">
                <a:solidFill>
                  <a:schemeClr val="tx1"/>
                </a:solidFill>
                <a:latin typeface="+mn-lt"/>
                <a:ea typeface="+mn-ea"/>
                <a:cs typeface="+mn-cs"/>
              </a:rPr>
              <a:t>指令 </a:t>
            </a:r>
            <a:r>
              <a:rPr lang="en-US" altLang="zh-CN" sz="1200" b="1" i="0" u="none" strike="noStrike" kern="1200" baseline="0" dirty="0" smtClean="0">
                <a:solidFill>
                  <a:schemeClr val="tx1"/>
                </a:solidFill>
                <a:latin typeface="+mn-lt"/>
                <a:ea typeface="+mn-ea"/>
                <a:cs typeface="+mn-cs"/>
              </a:rPr>
              <a:t>+ </a:t>
            </a:r>
            <a:r>
              <a:rPr lang="en-US" altLang="zh-CN" sz="1200" b="1" i="0" u="none" strike="noStrike" kern="1200" baseline="0" dirty="0" err="1" smtClean="0">
                <a:solidFill>
                  <a:schemeClr val="tx1"/>
                </a:solidFill>
                <a:latin typeface="+mn-lt"/>
                <a:ea typeface="+mn-ea"/>
                <a:cs typeface="+mn-cs"/>
              </a:rPr>
              <a:t>cmpxchgl</a:t>
            </a:r>
            <a:r>
              <a:rPr lang="zh-CN" altLang="en-US" sz="1200" b="0" i="0" u="none" strike="noStrike" kern="1200" baseline="0" dirty="0" smtClean="0">
                <a:solidFill>
                  <a:schemeClr val="tx1"/>
                </a:solidFill>
                <a:latin typeface="+mn-lt"/>
                <a:ea typeface="+mn-ea"/>
                <a:cs typeface="+mn-cs"/>
              </a:rPr>
              <a:t>指令 </a:t>
            </a:r>
            <a:r>
              <a:rPr lang="en-US" altLang="zh-CN" sz="1200" b="1" i="0" u="none" strike="noStrike" kern="1200" baseline="0" dirty="0" smtClean="0">
                <a:solidFill>
                  <a:schemeClr val="tx1"/>
                </a:solidFill>
                <a:latin typeface="+mn-lt"/>
                <a:ea typeface="+mn-ea"/>
                <a:cs typeface="+mn-cs"/>
              </a:rPr>
              <a:t>+ </a:t>
            </a:r>
            <a:r>
              <a:rPr lang="zh-CN" altLang="en-US" sz="1200" b="0" i="0" u="none" strike="noStrike" kern="1200" baseline="0" dirty="0" smtClean="0">
                <a:solidFill>
                  <a:schemeClr val="tx1"/>
                </a:solidFill>
                <a:latin typeface="+mn-lt"/>
                <a:ea typeface="+mn-ea"/>
                <a:cs typeface="+mn-cs"/>
              </a:rPr>
              <a:t>缓存一致性模型 </a:t>
            </a:r>
            <a:r>
              <a:rPr lang="en-US" altLang="zh-CN" sz="1200" b="1" i="0" u="none" strike="noStrike" kern="1200" baseline="0" dirty="0" smtClean="0">
                <a:solidFill>
                  <a:schemeClr val="tx1"/>
                </a:solidFill>
                <a:latin typeface="+mn-lt"/>
                <a:ea typeface="+mn-ea"/>
                <a:cs typeface="+mn-cs"/>
              </a:rPr>
              <a:t>+ memory</a:t>
            </a:r>
            <a:r>
              <a:rPr lang="zh-CN" altLang="en-US" sz="1200" b="0" i="0" u="none" strike="noStrike" kern="1200" baseline="0" dirty="0" smtClean="0">
                <a:solidFill>
                  <a:schemeClr val="tx1"/>
                </a:solidFill>
                <a:latin typeface="+mn-lt"/>
                <a:ea typeface="+mn-ea"/>
                <a:cs typeface="+mn-cs"/>
              </a:rPr>
              <a:t>指令 </a:t>
            </a:r>
            <a:r>
              <a:rPr lang="en-US" altLang="zh-CN" sz="1200" b="1" i="0" u="none" strike="noStrike" kern="1200" baseline="0" dirty="0" smtClean="0">
                <a:solidFill>
                  <a:schemeClr val="tx1"/>
                </a:solidFill>
                <a:latin typeface="+mn-lt"/>
                <a:ea typeface="+mn-ea"/>
                <a:cs typeface="+mn-cs"/>
              </a:rPr>
              <a:t>= </a:t>
            </a:r>
            <a:r>
              <a:rPr lang="zh-CN" altLang="en-US" sz="1200" b="0" i="0" u="none" strike="noStrike" kern="1200" baseline="0" dirty="0" smtClean="0">
                <a:solidFill>
                  <a:schemeClr val="tx1"/>
                </a:solidFill>
                <a:latin typeface="+mn-lt"/>
                <a:ea typeface="+mn-ea"/>
                <a:cs typeface="+mn-cs"/>
              </a:rPr>
              <a:t>原子操作原语</a:t>
            </a:r>
            <a:r>
              <a:rPr lang="en-US" altLang="zh-CN" sz="1200" b="1" i="0" u="none" strike="noStrike" kern="1200" baseline="0" dirty="0" smtClean="0">
                <a:solidFill>
                  <a:schemeClr val="tx1"/>
                </a:solidFill>
                <a:latin typeface="+mn-lt"/>
                <a:ea typeface="+mn-ea"/>
                <a:cs typeface="+mn-cs"/>
              </a:rPr>
              <a:t>CAS </a:t>
            </a:r>
            <a:endParaRPr lang="zh-CN" altLang="en-US" dirty="0"/>
          </a:p>
        </p:txBody>
      </p:sp>
      <p:sp>
        <p:nvSpPr>
          <p:cNvPr id="4" name="灯片编号占位符 3"/>
          <p:cNvSpPr>
            <a:spLocks noGrp="1"/>
          </p:cNvSpPr>
          <p:nvPr>
            <p:ph type="sldNum" sz="quarter" idx="10"/>
          </p:nvPr>
        </p:nvSpPr>
        <p:spPr/>
        <p:txBody>
          <a:bodyPr/>
          <a:lstStyle/>
          <a:p>
            <a:fld id="{22A55BEF-A170-465B-A992-24CB9D18641E}" type="slidenum">
              <a:rPr lang="zh-CN" altLang="en-US" smtClean="0"/>
              <a:t>14</a:t>
            </a:fld>
            <a:endParaRPr lang="zh-CN" altLang="en-US"/>
          </a:p>
        </p:txBody>
      </p:sp>
    </p:spTree>
    <p:extLst>
      <p:ext uri="{BB962C8B-B14F-4D97-AF65-F5344CB8AC3E}">
        <p14:creationId xmlns:p14="http://schemas.microsoft.com/office/powerpoint/2010/main" val="893575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A55BEF-A170-465B-A992-24CB9D18641E}" type="slidenum">
              <a:rPr lang="zh-CN" altLang="en-US" smtClean="0"/>
              <a:t>17</a:t>
            </a:fld>
            <a:endParaRPr lang="zh-CN" altLang="en-US"/>
          </a:p>
        </p:txBody>
      </p:sp>
    </p:spTree>
    <p:extLst>
      <p:ext uri="{BB962C8B-B14F-4D97-AF65-F5344CB8AC3E}">
        <p14:creationId xmlns:p14="http://schemas.microsoft.com/office/powerpoint/2010/main" val="2801411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345254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1760893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3832799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294119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3218405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200019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3847316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3558518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1435832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3727667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4D252D5-EF37-4B90-B7C7-7FB6C1D3693F}" type="datetimeFigureOut">
              <a:rPr lang="zh-CN" altLang="en-US" smtClean="0"/>
              <a:t>2016/7/8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43918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D252D5-EF37-4B90-B7C7-7FB6C1D3693F}" type="datetimeFigureOut">
              <a:rPr lang="zh-CN" altLang="en-US" smtClean="0"/>
              <a:t>2016/7/8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A45488-8FC7-4714-B615-D6B4435C605A}" type="slidenum">
              <a:rPr lang="zh-CN" altLang="en-US" smtClean="0"/>
              <a:t>‹#›</a:t>
            </a:fld>
            <a:endParaRPr lang="zh-CN" altLang="en-US"/>
          </a:p>
        </p:txBody>
      </p:sp>
    </p:spTree>
    <p:extLst>
      <p:ext uri="{BB962C8B-B14F-4D97-AF65-F5344CB8AC3E}">
        <p14:creationId xmlns:p14="http://schemas.microsoft.com/office/powerpoint/2010/main" val="29756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11011" y="2503917"/>
            <a:ext cx="9012252" cy="897309"/>
          </a:xfrm>
        </p:spPr>
        <p:txBody>
          <a:bodyPr>
            <a:normAutofit/>
          </a:bodyPr>
          <a:lstStyle/>
          <a:p>
            <a:pPr marL="0" indent="0" algn="ctr">
              <a:buNone/>
            </a:pPr>
            <a:r>
              <a:rPr lang="zh-CN" altLang="en-US" sz="4000" dirty="0" smtClean="0"/>
              <a:t>并发编程之原子操作</a:t>
            </a:r>
            <a:endParaRPr lang="zh-CN" altLang="en-US" sz="4000" dirty="0"/>
          </a:p>
        </p:txBody>
      </p:sp>
      <p:sp>
        <p:nvSpPr>
          <p:cNvPr id="5" name="副标题 2"/>
          <p:cNvSpPr>
            <a:spLocks noGrp="1"/>
          </p:cNvSpPr>
          <p:nvPr/>
        </p:nvSpPr>
        <p:spPr>
          <a:xfrm>
            <a:off x="2263211" y="3920028"/>
            <a:ext cx="6400800" cy="1104460"/>
          </a:xfrm>
          <a:prstGeom prst="rect">
            <a:avLst/>
          </a:prstGeom>
        </p:spPr>
        <p:txBody>
          <a:bodyPr vert="horz" lIns="91440" tIns="45720" rIns="91440" bIns="45720" rtlCol="0">
            <a:normAutofit fontScale="850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endParaRPr lang="en-US" altLang="zh-CN" sz="1800" dirty="0" smtClean="0"/>
          </a:p>
          <a:p>
            <a:pPr algn="r"/>
            <a:endParaRPr lang="en-US" altLang="zh-CN" sz="1800" dirty="0"/>
          </a:p>
          <a:p>
            <a:pPr algn="r"/>
            <a:endParaRPr lang="en-US" altLang="zh-CN" sz="1800" dirty="0" smtClean="0"/>
          </a:p>
          <a:p>
            <a:pPr algn="r"/>
            <a:r>
              <a:rPr lang="zh-CN" altLang="en-US" sz="2000" dirty="0" smtClean="0"/>
              <a:t>李斌</a:t>
            </a:r>
            <a:endParaRPr lang="zh-CN" altLang="en-US" sz="2000" dirty="0"/>
          </a:p>
        </p:txBody>
      </p:sp>
    </p:spTree>
    <p:extLst>
      <p:ext uri="{BB962C8B-B14F-4D97-AF65-F5344CB8AC3E}">
        <p14:creationId xmlns:p14="http://schemas.microsoft.com/office/powerpoint/2010/main" val="3847124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623701" y="1122363"/>
            <a:ext cx="9044298" cy="450063"/>
          </a:xfrm>
        </p:spPr>
        <p:txBody>
          <a:bodyPr>
            <a:normAutofit fontScale="90000"/>
          </a:bodyPr>
          <a:lstStyle/>
          <a:p>
            <a:r>
              <a:rPr lang="zh-CN" altLang="en-US" dirty="0"/>
              <a:t>概要</a:t>
            </a:r>
          </a:p>
        </p:txBody>
      </p:sp>
      <p:sp>
        <p:nvSpPr>
          <p:cNvPr id="3" name="副标题 2"/>
          <p:cNvSpPr>
            <a:spLocks noGrp="1"/>
          </p:cNvSpPr>
          <p:nvPr>
            <p:ph type="subTitle" idx="1"/>
          </p:nvPr>
        </p:nvSpPr>
        <p:spPr>
          <a:xfrm>
            <a:off x="1224898" y="1781784"/>
            <a:ext cx="9144000" cy="4217364"/>
          </a:xfrm>
        </p:spPr>
        <p:txBody>
          <a:bodyPr/>
          <a:lstStyle/>
          <a:p>
            <a:pPr marL="342900" indent="-342900" algn="l">
              <a:buFont typeface="Wingdings" panose="05000000000000000000" pitchFamily="2" charset="2"/>
              <a:buChar char="l"/>
            </a:pPr>
            <a:r>
              <a:rPr lang="zh-CN" altLang="en-US" dirty="0" smtClean="0"/>
              <a:t>串行、并发与并行</a:t>
            </a:r>
            <a:endParaRPr lang="en-US" altLang="zh-CN" dirty="0" smtClean="0"/>
          </a:p>
          <a:p>
            <a:pPr marL="342900" indent="-342900" algn="l">
              <a:buFont typeface="Wingdings" panose="05000000000000000000" pitchFamily="2" charset="2"/>
              <a:buChar char="l"/>
            </a:pPr>
            <a:r>
              <a:rPr lang="zh-CN" altLang="en-US" dirty="0" smtClean="0"/>
              <a:t>并发级别</a:t>
            </a:r>
            <a:endParaRPr lang="en-US" altLang="zh-CN" dirty="0" smtClean="0"/>
          </a:p>
          <a:p>
            <a:pPr marL="342900" indent="-342900" algn="l">
              <a:buFont typeface="Wingdings" panose="05000000000000000000" pitchFamily="2" charset="2"/>
              <a:buChar char="l"/>
            </a:pPr>
            <a:r>
              <a:rPr lang="zh-CN" altLang="en-US" dirty="0" smtClean="0"/>
              <a:t>原子操作</a:t>
            </a:r>
            <a:endParaRPr lang="en-US" altLang="zh-CN" dirty="0" smtClean="0"/>
          </a:p>
          <a:p>
            <a:pPr marL="342900" indent="-342900" algn="l">
              <a:buFont typeface="Wingdings" panose="05000000000000000000" pitchFamily="2" charset="2"/>
              <a:buChar char="l"/>
            </a:pPr>
            <a:endParaRPr lang="zh-CN" altLang="en-US" dirty="0"/>
          </a:p>
        </p:txBody>
      </p:sp>
    </p:spTree>
    <p:extLst>
      <p:ext uri="{BB962C8B-B14F-4D97-AF65-F5344CB8AC3E}">
        <p14:creationId xmlns:p14="http://schemas.microsoft.com/office/powerpoint/2010/main" val="1344876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串行、并发与并行</a:t>
            </a:r>
            <a:r>
              <a:rPr lang="en-US" altLang="zh-CN" dirty="0"/>
              <a:t/>
            </a:r>
            <a:br>
              <a:rPr lang="en-US" altLang="zh-CN" dirty="0"/>
            </a:br>
            <a:endParaRPr lang="zh-CN" altLang="en-US" dirty="0"/>
          </a:p>
        </p:txBody>
      </p:sp>
      <p:sp>
        <p:nvSpPr>
          <p:cNvPr id="3" name="内容占位符 2"/>
          <p:cNvSpPr>
            <a:spLocks noGrp="1"/>
          </p:cNvSpPr>
          <p:nvPr>
            <p:ph idx="1"/>
          </p:nvPr>
        </p:nvSpPr>
        <p:spPr>
          <a:xfrm>
            <a:off x="838199" y="1825625"/>
            <a:ext cx="10937905" cy="4351338"/>
          </a:xfrm>
        </p:spPr>
        <p:txBody>
          <a:bodyPr>
            <a:normAutofit fontScale="25000" lnSpcReduction="20000"/>
          </a:bodyPr>
          <a:lstStyle/>
          <a:p>
            <a:r>
              <a:rPr lang="zh-CN" altLang="en-US" sz="9600" dirty="0" smtClean="0"/>
              <a:t>串行</a:t>
            </a:r>
            <a:endParaRPr lang="en-US" altLang="zh-CN" sz="9600" dirty="0"/>
          </a:p>
          <a:p>
            <a:pPr>
              <a:buFont typeface="Wingdings" panose="05000000000000000000" pitchFamily="2" charset="2"/>
              <a:buChar char="Ø"/>
            </a:pPr>
            <a:r>
              <a:rPr lang="zh-CN" altLang="en-US" sz="5100" dirty="0" smtClean="0"/>
              <a:t>一</a:t>
            </a:r>
            <a:r>
              <a:rPr lang="zh-CN" altLang="en-US" sz="5100" dirty="0"/>
              <a:t>个调用栈和一个运行时上下文</a:t>
            </a:r>
            <a:r>
              <a:rPr lang="en-US" altLang="zh-CN" sz="5100" dirty="0" smtClean="0"/>
              <a:t>.</a:t>
            </a:r>
          </a:p>
          <a:p>
            <a:pPr>
              <a:buFont typeface="Wingdings" panose="05000000000000000000" pitchFamily="2" charset="2"/>
              <a:buChar char="Ø"/>
            </a:pPr>
            <a:r>
              <a:rPr lang="zh-CN" altLang="en-US" sz="5100" dirty="0"/>
              <a:t>单进程</a:t>
            </a:r>
            <a:r>
              <a:rPr lang="en-US" altLang="zh-CN" sz="5100" dirty="0"/>
              <a:t>/</a:t>
            </a:r>
            <a:r>
              <a:rPr lang="zh-CN" altLang="en-US" sz="5100" dirty="0"/>
              <a:t>单</a:t>
            </a:r>
            <a:r>
              <a:rPr lang="zh-CN" altLang="en-US" sz="5100" dirty="0" smtClean="0"/>
              <a:t>线程程序</a:t>
            </a:r>
            <a:r>
              <a:rPr lang="en-US" altLang="zh-CN" sz="5100" dirty="0" smtClean="0"/>
              <a:t>. </a:t>
            </a:r>
          </a:p>
          <a:p>
            <a:pPr marL="0" indent="0">
              <a:buNone/>
            </a:pPr>
            <a:endParaRPr lang="en-US" altLang="zh-CN" sz="2000" dirty="0" smtClean="0"/>
          </a:p>
          <a:p>
            <a:r>
              <a:rPr lang="zh-CN" altLang="en-US" sz="9600" dirty="0" smtClean="0"/>
              <a:t>并发</a:t>
            </a:r>
            <a:endParaRPr lang="en-US" altLang="zh-CN" sz="9600" dirty="0" smtClean="0"/>
          </a:p>
          <a:p>
            <a:pPr>
              <a:buFont typeface="Wingdings" panose="05000000000000000000" pitchFamily="2" charset="2"/>
              <a:buChar char="Ø"/>
            </a:pPr>
            <a:r>
              <a:rPr lang="zh-CN" altLang="en-US" sz="5100" dirty="0"/>
              <a:t>多个调用栈和多个上下文</a:t>
            </a:r>
            <a:r>
              <a:rPr lang="en-US" altLang="zh-CN" sz="5100" dirty="0"/>
              <a:t>. </a:t>
            </a:r>
          </a:p>
          <a:p>
            <a:pPr>
              <a:buFont typeface="Wingdings" panose="05000000000000000000" pitchFamily="2" charset="2"/>
              <a:buChar char="Ø"/>
            </a:pPr>
            <a:r>
              <a:rPr lang="zh-CN" altLang="en-US" sz="5100" dirty="0"/>
              <a:t>多进程</a:t>
            </a:r>
            <a:r>
              <a:rPr lang="en-US" altLang="zh-CN" sz="5100" dirty="0"/>
              <a:t>/</a:t>
            </a:r>
            <a:r>
              <a:rPr lang="zh-CN" altLang="en-US" sz="5100" dirty="0"/>
              <a:t>多线程程序</a:t>
            </a:r>
            <a:r>
              <a:rPr lang="en-US" altLang="zh-CN" sz="5100" dirty="0"/>
              <a:t>. </a:t>
            </a:r>
          </a:p>
          <a:p>
            <a:pPr>
              <a:buFont typeface="Wingdings" panose="05000000000000000000" pitchFamily="2" charset="2"/>
              <a:buChar char="Ø"/>
            </a:pPr>
            <a:r>
              <a:rPr lang="zh-CN" altLang="en-US" sz="5100" dirty="0"/>
              <a:t>逻辑上并发，线程</a:t>
            </a:r>
            <a:r>
              <a:rPr lang="en-US" altLang="zh-CN" sz="5100" dirty="0"/>
              <a:t>/</a:t>
            </a:r>
            <a:r>
              <a:rPr lang="zh-CN" altLang="en-US" sz="5100" dirty="0"/>
              <a:t>进程之间发生</a:t>
            </a:r>
            <a:r>
              <a:rPr lang="zh-CN" altLang="en-US" sz="5100" dirty="0">
                <a:solidFill>
                  <a:srgbClr val="FF0000"/>
                </a:solidFill>
              </a:rPr>
              <a:t>上下文切换</a:t>
            </a:r>
            <a:endParaRPr lang="en-US" altLang="zh-CN" sz="5100" dirty="0">
              <a:solidFill>
                <a:srgbClr val="FF0000"/>
              </a:solidFill>
            </a:endParaRPr>
          </a:p>
          <a:p>
            <a:pPr marL="0" indent="0">
              <a:buNone/>
            </a:pPr>
            <a:endParaRPr lang="en-US" altLang="zh-CN" sz="2200" dirty="0"/>
          </a:p>
          <a:p>
            <a:r>
              <a:rPr lang="zh-CN" altLang="en-US" sz="9600" dirty="0" smtClean="0"/>
              <a:t>并行</a:t>
            </a:r>
            <a:endParaRPr lang="en-US" altLang="zh-CN" sz="9600" dirty="0" smtClean="0"/>
          </a:p>
          <a:p>
            <a:pPr>
              <a:buFont typeface="Wingdings" panose="05000000000000000000" pitchFamily="2" charset="2"/>
              <a:buChar char="Ø"/>
            </a:pPr>
            <a:r>
              <a:rPr lang="zh-CN" altLang="en-US" sz="5000" dirty="0"/>
              <a:t>多个调用栈和多个上下文</a:t>
            </a:r>
            <a:r>
              <a:rPr lang="en-US" altLang="zh-CN" sz="5000" dirty="0"/>
              <a:t>. </a:t>
            </a:r>
          </a:p>
          <a:p>
            <a:pPr>
              <a:buFont typeface="Wingdings" panose="05000000000000000000" pitchFamily="2" charset="2"/>
              <a:buChar char="Ø"/>
            </a:pPr>
            <a:r>
              <a:rPr lang="zh-CN" altLang="en-US" sz="5000" dirty="0"/>
              <a:t>多进程</a:t>
            </a:r>
            <a:r>
              <a:rPr lang="en-US" altLang="zh-CN" sz="5000" dirty="0"/>
              <a:t>/</a:t>
            </a:r>
            <a:r>
              <a:rPr lang="zh-CN" altLang="en-US" sz="5000" dirty="0"/>
              <a:t>多线程程序</a:t>
            </a:r>
            <a:r>
              <a:rPr lang="en-US" altLang="zh-CN" sz="5000" dirty="0"/>
              <a:t>. </a:t>
            </a:r>
          </a:p>
          <a:p>
            <a:pPr>
              <a:buFont typeface="Wingdings" panose="05000000000000000000" pitchFamily="2" charset="2"/>
              <a:buChar char="Ø"/>
            </a:pPr>
            <a:r>
              <a:rPr lang="zh-CN" altLang="en-US" sz="5000" dirty="0"/>
              <a:t>物理上多个任务可以同时运行，不同线程</a:t>
            </a:r>
            <a:r>
              <a:rPr lang="en-US" altLang="zh-CN" sz="5000" dirty="0"/>
              <a:t>/</a:t>
            </a:r>
            <a:r>
              <a:rPr lang="zh-CN" altLang="en-US" sz="5000" dirty="0"/>
              <a:t>进程可以绑定</a:t>
            </a:r>
            <a:r>
              <a:rPr lang="zh-CN" altLang="en-US" sz="5000" dirty="0" smtClean="0"/>
              <a:t>从而</a:t>
            </a:r>
            <a:endParaRPr lang="en-US" altLang="zh-CN" sz="5000" dirty="0" smtClean="0"/>
          </a:p>
          <a:p>
            <a:pPr marL="0" indent="0">
              <a:buNone/>
            </a:pPr>
            <a:r>
              <a:rPr lang="en-US" altLang="zh-CN" sz="5000" dirty="0" smtClean="0"/>
              <a:t>      </a:t>
            </a:r>
            <a:r>
              <a:rPr lang="zh-CN" altLang="en-US" sz="5000" dirty="0" smtClean="0"/>
              <a:t>完全</a:t>
            </a:r>
            <a:r>
              <a:rPr lang="zh-CN" altLang="en-US" sz="5000" dirty="0"/>
              <a:t>占用一颗核心，所以从体系架构的角度，</a:t>
            </a:r>
            <a:r>
              <a:rPr lang="zh-CN" altLang="en-US" sz="5000" dirty="0">
                <a:solidFill>
                  <a:srgbClr val="FF0000"/>
                </a:solidFill>
              </a:rPr>
              <a:t>同一</a:t>
            </a:r>
            <a:r>
              <a:rPr lang="zh-CN" altLang="en-US" sz="5000" dirty="0" smtClean="0">
                <a:solidFill>
                  <a:srgbClr val="FF0000"/>
                </a:solidFill>
              </a:rPr>
              <a:t>时刻</a:t>
            </a:r>
            <a:r>
              <a:rPr lang="zh-CN" altLang="en-US" sz="5000" dirty="0" smtClean="0"/>
              <a:t>有多</a:t>
            </a:r>
            <a:endParaRPr lang="en-US" altLang="zh-CN" sz="5000" dirty="0" smtClean="0"/>
          </a:p>
          <a:p>
            <a:pPr marL="0" indent="0">
              <a:buNone/>
            </a:pPr>
            <a:r>
              <a:rPr lang="en-US" altLang="zh-CN" sz="5000" dirty="0"/>
              <a:t> </a:t>
            </a:r>
            <a:r>
              <a:rPr lang="en-US" altLang="zh-CN" sz="5000" dirty="0" smtClean="0"/>
              <a:t>     </a:t>
            </a:r>
            <a:r>
              <a:rPr lang="zh-CN" altLang="en-US" sz="5000" dirty="0" smtClean="0"/>
              <a:t>个</a:t>
            </a:r>
            <a:r>
              <a:rPr lang="zh-CN" altLang="en-US" sz="5000" dirty="0"/>
              <a:t>任务同时运行</a:t>
            </a:r>
            <a:r>
              <a:rPr lang="en-US" altLang="zh-CN" sz="5000" dirty="0"/>
              <a:t>.</a:t>
            </a:r>
          </a:p>
          <a:p>
            <a:endParaRPr lang="en-US" altLang="zh-CN" dirty="0" smtClean="0"/>
          </a:p>
        </p:txBody>
      </p:sp>
      <p:pic>
        <p:nvPicPr>
          <p:cNvPr id="4" name="内容占位符 5"/>
          <p:cNvPicPr>
            <a:picLocks noChangeAspect="1"/>
          </p:cNvPicPr>
          <p:nvPr/>
        </p:nvPicPr>
        <p:blipFill>
          <a:blip r:embed="rId3"/>
          <a:stretch>
            <a:fillRect/>
          </a:stretch>
        </p:blipFill>
        <p:spPr>
          <a:xfrm>
            <a:off x="7431319" y="1690688"/>
            <a:ext cx="3055045" cy="4351338"/>
          </a:xfrm>
          <a:prstGeom prst="rect">
            <a:avLst/>
          </a:prstGeom>
        </p:spPr>
      </p:pic>
    </p:spTree>
    <p:extLst>
      <p:ext uri="{BB962C8B-B14F-4D97-AF65-F5344CB8AC3E}">
        <p14:creationId xmlns:p14="http://schemas.microsoft.com/office/powerpoint/2010/main" val="2752590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并发级别</a:t>
            </a:r>
            <a:endParaRPr lang="zh-CN" altLang="en-US" dirty="0"/>
          </a:p>
        </p:txBody>
      </p:sp>
      <p:sp>
        <p:nvSpPr>
          <p:cNvPr id="3" name="内容占位符 2"/>
          <p:cNvSpPr>
            <a:spLocks noGrp="1"/>
          </p:cNvSpPr>
          <p:nvPr>
            <p:ph idx="1"/>
          </p:nvPr>
        </p:nvSpPr>
        <p:spPr/>
        <p:txBody>
          <a:bodyPr/>
          <a:lstStyle/>
          <a:p>
            <a:r>
              <a:rPr lang="en-US" altLang="zh-CN" dirty="0" smtClean="0"/>
              <a:t>Wait-free</a:t>
            </a:r>
          </a:p>
          <a:p>
            <a:r>
              <a:rPr lang="en-US" altLang="zh-CN" dirty="0" smtClean="0"/>
              <a:t>Lock-free</a:t>
            </a:r>
          </a:p>
          <a:p>
            <a:r>
              <a:rPr lang="en-US" altLang="zh-CN" dirty="0" smtClean="0"/>
              <a:t>Obstruction-free</a:t>
            </a:r>
          </a:p>
          <a:p>
            <a:r>
              <a:rPr lang="en-US" altLang="zh-CN" dirty="0" smtClean="0"/>
              <a:t>Blocking algorithms</a:t>
            </a:r>
            <a:endParaRPr lang="zh-CN" altLang="en-US" dirty="0"/>
          </a:p>
        </p:txBody>
      </p:sp>
    </p:spTree>
    <p:extLst>
      <p:ext uri="{BB962C8B-B14F-4D97-AF65-F5344CB8AC3E}">
        <p14:creationId xmlns:p14="http://schemas.microsoft.com/office/powerpoint/2010/main" val="359768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Wait-free</a:t>
            </a:r>
            <a:endParaRPr lang="zh-CN" altLang="en-US" dirty="0"/>
          </a:p>
        </p:txBody>
      </p:sp>
      <p:sp>
        <p:nvSpPr>
          <p:cNvPr id="3" name="内容占位符 2"/>
          <p:cNvSpPr>
            <a:spLocks noGrp="1"/>
          </p:cNvSpPr>
          <p:nvPr>
            <p:ph idx="1"/>
          </p:nvPr>
        </p:nvSpPr>
        <p:spPr/>
        <p:txBody>
          <a:bodyPr/>
          <a:lstStyle/>
          <a:p>
            <a:r>
              <a:rPr lang="zh-CN" altLang="en-US" sz="2400" dirty="0"/>
              <a:t>每一个线程都一直运行下去而无须等待外部条件，整个流程中任何操作都能在一个有限的步骤内完成，这是最高的并发级别，没有任何阻塞</a:t>
            </a:r>
            <a:r>
              <a:rPr lang="zh-CN" altLang="en-US" sz="2400" dirty="0" smtClean="0"/>
              <a:t>。</a:t>
            </a:r>
            <a:endParaRPr lang="en-US" altLang="zh-CN" sz="2400" dirty="0"/>
          </a:p>
          <a:p>
            <a:r>
              <a:rPr lang="zh-CN" altLang="en-US" sz="2400" dirty="0" smtClean="0"/>
              <a:t>特点：保证吞吐量、无线程饥饿 </a:t>
            </a:r>
            <a:endParaRPr lang="en-US" altLang="zh-CN" sz="2400" dirty="0" smtClean="0"/>
          </a:p>
          <a:p>
            <a:r>
              <a:rPr lang="zh-CN" altLang="en-US" sz="2400" dirty="0" smtClean="0"/>
              <a:t>例子：调用单个原子操作的数据结构或者算法</a:t>
            </a:r>
            <a:endParaRPr lang="en-US" altLang="zh-CN" sz="2400" dirty="0" smtClean="0"/>
          </a:p>
          <a:p>
            <a:endParaRPr lang="zh-CN" altLang="en-US" dirty="0"/>
          </a:p>
        </p:txBody>
      </p:sp>
    </p:spTree>
    <p:extLst>
      <p:ext uri="{BB962C8B-B14F-4D97-AF65-F5344CB8AC3E}">
        <p14:creationId xmlns:p14="http://schemas.microsoft.com/office/powerpoint/2010/main" val="3643011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Lock-free</a:t>
            </a:r>
            <a:endParaRPr lang="zh-CN" altLang="en-US" dirty="0"/>
          </a:p>
        </p:txBody>
      </p:sp>
      <p:sp>
        <p:nvSpPr>
          <p:cNvPr id="3" name="内容占位符 2"/>
          <p:cNvSpPr>
            <a:spLocks noGrp="1"/>
          </p:cNvSpPr>
          <p:nvPr>
            <p:ph idx="1"/>
          </p:nvPr>
        </p:nvSpPr>
        <p:spPr/>
        <p:txBody>
          <a:bodyPr/>
          <a:lstStyle/>
          <a:p>
            <a:r>
              <a:rPr lang="zh-CN" altLang="en-US" dirty="0" smtClean="0"/>
              <a:t>无锁性质可以保证所有线程中至少有一个线程能往下执行，</a:t>
            </a:r>
            <a:r>
              <a:rPr lang="zh-CN" altLang="en-US" dirty="0"/>
              <a:t>这便意味着有些线程可能会</a:t>
            </a:r>
            <a:r>
              <a:rPr lang="zh-CN" altLang="en-US" dirty="0" smtClean="0"/>
              <a:t>被延迟，产生一段时间的饥饿</a:t>
            </a:r>
            <a:endParaRPr lang="en-US" altLang="zh-CN" dirty="0" smtClean="0"/>
          </a:p>
          <a:p>
            <a:r>
              <a:rPr lang="zh-CN" altLang="en-US" smtClean="0"/>
              <a:t>特点：保证</a:t>
            </a:r>
            <a:r>
              <a:rPr lang="zh-CN" altLang="en-US" dirty="0"/>
              <a:t>吞吐量</a:t>
            </a:r>
            <a:r>
              <a:rPr lang="zh-CN" altLang="en-US" dirty="0" smtClean="0"/>
              <a:t>、允许个别线程</a:t>
            </a:r>
            <a:r>
              <a:rPr lang="zh-CN" altLang="en-US" dirty="0"/>
              <a:t>饥饿 </a:t>
            </a:r>
            <a:r>
              <a:rPr lang="zh-CN" altLang="en-US" dirty="0" smtClean="0"/>
              <a:t>、至少一个线程继续执行</a:t>
            </a:r>
            <a:endParaRPr lang="en-US" altLang="zh-CN" dirty="0" smtClean="0"/>
          </a:p>
          <a:p>
            <a:r>
              <a:rPr lang="zh-CN" altLang="en-US" dirty="0" smtClean="0"/>
              <a:t>例子：</a:t>
            </a:r>
            <a:r>
              <a:rPr lang="en-US" altLang="zh-CN" dirty="0" smtClean="0"/>
              <a:t>CAS</a:t>
            </a:r>
            <a:endParaRPr lang="zh-CN" altLang="en-US" dirty="0"/>
          </a:p>
        </p:txBody>
      </p:sp>
    </p:spTree>
    <p:extLst>
      <p:ext uri="{BB962C8B-B14F-4D97-AF65-F5344CB8AC3E}">
        <p14:creationId xmlns:p14="http://schemas.microsoft.com/office/powerpoint/2010/main" val="213797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Obstruction-free</a:t>
            </a:r>
            <a:endParaRPr lang="zh-CN" altLang="en-US" dirty="0"/>
          </a:p>
        </p:txBody>
      </p:sp>
      <p:sp>
        <p:nvSpPr>
          <p:cNvPr id="3" name="内容占位符 2"/>
          <p:cNvSpPr>
            <a:spLocks noGrp="1"/>
          </p:cNvSpPr>
          <p:nvPr>
            <p:ph idx="1"/>
          </p:nvPr>
        </p:nvSpPr>
        <p:spPr/>
        <p:txBody>
          <a:bodyPr/>
          <a:lstStyle/>
          <a:p>
            <a:r>
              <a:rPr lang="zh-CN" altLang="en-US" dirty="0"/>
              <a:t>这是一个非阻塞性质</a:t>
            </a:r>
            <a:r>
              <a:rPr lang="zh-CN" altLang="en-US" dirty="0" smtClean="0"/>
              <a:t>。</a:t>
            </a:r>
            <a:r>
              <a:rPr lang="zh-CN" altLang="en-US" dirty="0"/>
              <a:t>如果一个方法满足无干扰性质，那么这个方法从任意一点开始它的执行都是隔离的，并且能够在有限步内完成</a:t>
            </a:r>
            <a:r>
              <a:rPr lang="zh-CN" altLang="en-US" dirty="0" smtClean="0"/>
              <a:t>。</a:t>
            </a:r>
            <a:endParaRPr lang="en-US" altLang="zh-CN" dirty="0" smtClean="0"/>
          </a:p>
          <a:p>
            <a:r>
              <a:rPr lang="zh-CN" altLang="en-US" dirty="0" smtClean="0"/>
              <a:t>特点：</a:t>
            </a:r>
            <a:r>
              <a:rPr lang="zh-CN" altLang="en-US" dirty="0"/>
              <a:t>一个线程被</a:t>
            </a:r>
            <a:r>
              <a:rPr lang="zh-CN" altLang="en-US" dirty="0">
                <a:solidFill>
                  <a:srgbClr val="FF0000"/>
                </a:solidFill>
              </a:rPr>
              <a:t>隔离</a:t>
            </a:r>
            <a:r>
              <a:rPr lang="zh-CN" altLang="en-US" dirty="0"/>
              <a:t>为一个</a:t>
            </a:r>
            <a:r>
              <a:rPr lang="zh-CN" altLang="en-US" dirty="0">
                <a:solidFill>
                  <a:srgbClr val="FF0000"/>
                </a:solidFill>
              </a:rPr>
              <a:t>事务</a:t>
            </a:r>
            <a:r>
              <a:rPr lang="zh-CN" altLang="en-US" dirty="0"/>
              <a:t>进行</a:t>
            </a:r>
            <a:r>
              <a:rPr lang="zh-CN" altLang="en-US" dirty="0" smtClean="0"/>
              <a:t>执行</a:t>
            </a:r>
            <a:endParaRPr lang="en-US" altLang="zh-CN" dirty="0" smtClean="0"/>
          </a:p>
          <a:p>
            <a:r>
              <a:rPr lang="zh-CN" altLang="en-US" dirty="0" smtClean="0"/>
              <a:t>例子：乐观锁</a:t>
            </a:r>
            <a:r>
              <a:rPr lang="en-US" altLang="zh-CN" dirty="0" smtClean="0"/>
              <a:t>(MVCC)</a:t>
            </a:r>
            <a:endParaRPr lang="zh-CN" altLang="en-US" dirty="0"/>
          </a:p>
        </p:txBody>
      </p:sp>
    </p:spTree>
    <p:extLst>
      <p:ext uri="{BB962C8B-B14F-4D97-AF65-F5344CB8AC3E}">
        <p14:creationId xmlns:p14="http://schemas.microsoft.com/office/powerpoint/2010/main" val="292649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Blocking algorithms</a:t>
            </a:r>
            <a:endParaRPr lang="zh-CN" altLang="en-US" dirty="0"/>
          </a:p>
        </p:txBody>
      </p:sp>
      <p:sp>
        <p:nvSpPr>
          <p:cNvPr id="3" name="内容占位符 2"/>
          <p:cNvSpPr>
            <a:spLocks noGrp="1"/>
          </p:cNvSpPr>
          <p:nvPr>
            <p:ph idx="1"/>
          </p:nvPr>
        </p:nvSpPr>
        <p:spPr/>
        <p:txBody>
          <a:bodyPr/>
          <a:lstStyle/>
          <a:p>
            <a:r>
              <a:rPr lang="zh-CN" altLang="en-US" dirty="0" smtClean="0"/>
              <a:t>基于锁实现的同步方式</a:t>
            </a:r>
            <a:endParaRPr lang="en-US" altLang="zh-CN" dirty="0"/>
          </a:p>
          <a:p>
            <a:r>
              <a:rPr lang="zh-CN" altLang="en-US" dirty="0" smtClean="0"/>
              <a:t>特点：产生竞争、</a:t>
            </a:r>
            <a:r>
              <a:rPr lang="en-US" altLang="zh-CN" dirty="0" smtClean="0"/>
              <a:t>dead lock</a:t>
            </a:r>
            <a:r>
              <a:rPr lang="zh-CN" altLang="en-US" dirty="0"/>
              <a:t>、</a:t>
            </a:r>
            <a:r>
              <a:rPr lang="zh-CN" altLang="en-US" dirty="0" smtClean="0"/>
              <a:t> </a:t>
            </a:r>
            <a:r>
              <a:rPr lang="en-US" altLang="zh-CN" dirty="0"/>
              <a:t>live </a:t>
            </a:r>
            <a:r>
              <a:rPr lang="en-US" altLang="zh-CN" dirty="0" smtClean="0"/>
              <a:t>lock</a:t>
            </a:r>
            <a:endParaRPr lang="zh-CN" altLang="en-US" dirty="0"/>
          </a:p>
          <a:p>
            <a:r>
              <a:rPr lang="zh-CN" altLang="en-US" dirty="0" smtClean="0"/>
              <a:t>例子：</a:t>
            </a:r>
            <a:r>
              <a:rPr lang="en-US" altLang="zh-CN" dirty="0" err="1" smtClean="0"/>
              <a:t>mutex</a:t>
            </a:r>
            <a:endParaRPr lang="zh-CN" altLang="en-US" dirty="0"/>
          </a:p>
        </p:txBody>
      </p:sp>
    </p:spTree>
    <p:extLst>
      <p:ext uri="{BB962C8B-B14F-4D97-AF65-F5344CB8AC3E}">
        <p14:creationId xmlns:p14="http://schemas.microsoft.com/office/powerpoint/2010/main" val="315904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2"/>
          <a:stretch>
            <a:fillRect/>
          </a:stretch>
        </p:blipFill>
        <p:spPr>
          <a:xfrm>
            <a:off x="1695081" y="811935"/>
            <a:ext cx="8526610" cy="4351338"/>
          </a:xfrm>
          <a:prstGeom prst="rect">
            <a:avLst/>
          </a:prstGeom>
        </p:spPr>
      </p:pic>
      <p:sp>
        <p:nvSpPr>
          <p:cNvPr id="8" name="文本框 7"/>
          <p:cNvSpPr txBox="1"/>
          <p:nvPr/>
        </p:nvSpPr>
        <p:spPr>
          <a:xfrm>
            <a:off x="4896740" y="5597495"/>
            <a:ext cx="2606804" cy="369332"/>
          </a:xfrm>
          <a:prstGeom prst="rect">
            <a:avLst/>
          </a:prstGeom>
          <a:noFill/>
        </p:spPr>
        <p:txBody>
          <a:bodyPr wrap="none" rtlCol="0">
            <a:spAutoFit/>
          </a:bodyPr>
          <a:lstStyle/>
          <a:p>
            <a:r>
              <a:rPr lang="zh-CN" altLang="en-US" dirty="0" smtClean="0"/>
              <a:t>图</a:t>
            </a:r>
            <a:r>
              <a:rPr lang="en-US" altLang="zh-CN" dirty="0" smtClean="0"/>
              <a:t>1.2 </a:t>
            </a:r>
            <a:r>
              <a:rPr lang="zh-CN" altLang="en-US" dirty="0" smtClean="0"/>
              <a:t>几种并发级别对比</a:t>
            </a:r>
            <a:endParaRPr lang="zh-CN" altLang="en-US" dirty="0"/>
          </a:p>
        </p:txBody>
      </p:sp>
      <p:sp>
        <p:nvSpPr>
          <p:cNvPr id="2" name="文本框 1"/>
          <p:cNvSpPr txBox="1"/>
          <p:nvPr/>
        </p:nvSpPr>
        <p:spPr>
          <a:xfrm>
            <a:off x="7871382" y="3469063"/>
            <a:ext cx="575035" cy="253916"/>
          </a:xfrm>
          <a:prstGeom prst="rect">
            <a:avLst/>
          </a:prstGeom>
          <a:noFill/>
        </p:spPr>
        <p:txBody>
          <a:bodyPr wrap="square" rtlCol="0">
            <a:spAutoFit/>
          </a:bodyPr>
          <a:lstStyle/>
          <a:p>
            <a:r>
              <a:rPr lang="en-US" altLang="zh-CN" sz="1050" dirty="0" smtClean="0"/>
              <a:t>MVCC</a:t>
            </a:r>
            <a:endParaRPr lang="zh-CN" altLang="en-US" sz="1050" dirty="0"/>
          </a:p>
        </p:txBody>
      </p:sp>
    </p:spTree>
    <p:extLst>
      <p:ext uri="{BB962C8B-B14F-4D97-AF65-F5344CB8AC3E}">
        <p14:creationId xmlns:p14="http://schemas.microsoft.com/office/powerpoint/2010/main" val="3120219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原子操作</a:t>
            </a:r>
            <a:endParaRPr lang="zh-CN" altLang="en-US" dirty="0"/>
          </a:p>
        </p:txBody>
      </p:sp>
      <p:sp>
        <p:nvSpPr>
          <p:cNvPr id="3" name="内容占位符 2"/>
          <p:cNvSpPr>
            <a:spLocks noGrp="1"/>
          </p:cNvSpPr>
          <p:nvPr>
            <p:ph idx="1"/>
          </p:nvPr>
        </p:nvSpPr>
        <p:spPr/>
        <p:txBody>
          <a:bodyPr/>
          <a:lstStyle/>
          <a:p>
            <a:r>
              <a:rPr lang="zh-CN" altLang="en-US" dirty="0"/>
              <a:t>原子性操作是指，在整个系统可见范围内，一个操作要不就没有发生，要不就执行完毕，没有中间状态出现。</a:t>
            </a:r>
          </a:p>
        </p:txBody>
      </p:sp>
    </p:spTree>
    <p:extLst>
      <p:ext uri="{BB962C8B-B14F-4D97-AF65-F5344CB8AC3E}">
        <p14:creationId xmlns:p14="http://schemas.microsoft.com/office/powerpoint/2010/main" val="2591250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原子操作底层机制</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Intel X86 CPU </a:t>
            </a:r>
            <a:r>
              <a:rPr lang="zh-CN" altLang="en-US" dirty="0" smtClean="0"/>
              <a:t>架构下，以下三种机制来保证原子性：</a:t>
            </a:r>
            <a:endParaRPr lang="en-US" altLang="zh-CN" dirty="0" smtClean="0"/>
          </a:p>
          <a:p>
            <a:r>
              <a:rPr lang="en-US" altLang="zh-CN" sz="2400" dirty="0"/>
              <a:t>Guaranteed atomic operations</a:t>
            </a:r>
            <a:endParaRPr lang="en-US" altLang="zh-CN" sz="2400" dirty="0" smtClean="0"/>
          </a:p>
          <a:p>
            <a:r>
              <a:rPr lang="en-US" altLang="zh-CN" sz="2400" dirty="0"/>
              <a:t>Bus locking, using the LOCK# signal and the LOCK instruction prefix </a:t>
            </a:r>
            <a:endParaRPr lang="en-US" altLang="zh-CN" sz="2400" dirty="0" smtClean="0"/>
          </a:p>
          <a:p>
            <a:r>
              <a:rPr lang="en-US" altLang="zh-CN" sz="2400" dirty="0"/>
              <a:t>Cache coherency protocols that ensure that atomic operations can be carried out on cached data structures (cache lock); this mechanism is present in the Pentium 4, Intel Xeon, and P6 family processors </a:t>
            </a:r>
            <a:endParaRPr lang="zh-CN" altLang="en-US" sz="2400" dirty="0"/>
          </a:p>
        </p:txBody>
      </p:sp>
    </p:spTree>
    <p:extLst>
      <p:ext uri="{BB962C8B-B14F-4D97-AF65-F5344CB8AC3E}">
        <p14:creationId xmlns:p14="http://schemas.microsoft.com/office/powerpoint/2010/main" val="2186331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硬件原子操作 </a:t>
            </a:r>
          </a:p>
        </p:txBody>
      </p:sp>
      <p:sp>
        <p:nvSpPr>
          <p:cNvPr id="3" name="内容占位符 2"/>
          <p:cNvSpPr>
            <a:spLocks noGrp="1"/>
          </p:cNvSpPr>
          <p:nvPr>
            <p:ph idx="1"/>
          </p:nvPr>
        </p:nvSpPr>
        <p:spPr/>
        <p:txBody>
          <a:bodyPr>
            <a:normAutofit fontScale="62500" lnSpcReduction="20000"/>
          </a:bodyPr>
          <a:lstStyle/>
          <a:p>
            <a:pPr marL="0" indent="0">
              <a:buNone/>
            </a:pPr>
            <a:r>
              <a:rPr lang="zh-CN" altLang="en-US" dirty="0" smtClean="0"/>
              <a:t>从</a:t>
            </a:r>
            <a:r>
              <a:rPr lang="en-US" altLang="zh-CN" dirty="0"/>
              <a:t>Intel486 processor</a:t>
            </a:r>
            <a:r>
              <a:rPr lang="zh-CN" altLang="en-US" dirty="0"/>
              <a:t>开始，以下的基本内存操作是原子的： </a:t>
            </a:r>
          </a:p>
          <a:p>
            <a:pPr marL="0" indent="0">
              <a:buNone/>
            </a:pPr>
            <a:r>
              <a:rPr lang="en-US" altLang="zh-CN" dirty="0"/>
              <a:t>• Reading or writing a </a:t>
            </a:r>
            <a:r>
              <a:rPr lang="en-US" altLang="zh-CN" dirty="0" smtClean="0"/>
              <a:t>byte</a:t>
            </a:r>
            <a:endParaRPr lang="en-US" altLang="zh-CN" dirty="0"/>
          </a:p>
          <a:p>
            <a:pPr marL="0" indent="0">
              <a:buNone/>
            </a:pPr>
            <a:r>
              <a:rPr lang="en-US" altLang="zh-CN" dirty="0" smtClean="0"/>
              <a:t>• </a:t>
            </a:r>
            <a:r>
              <a:rPr lang="en-US" altLang="zh-CN" dirty="0"/>
              <a:t>Reading or writing a word aligned on a 16-bit </a:t>
            </a:r>
            <a:r>
              <a:rPr lang="en-US" altLang="zh-CN" dirty="0" smtClean="0"/>
              <a:t>boundary</a:t>
            </a:r>
          </a:p>
          <a:p>
            <a:pPr marL="0" indent="0">
              <a:buNone/>
            </a:pPr>
            <a:r>
              <a:rPr lang="en-US" altLang="zh-CN" dirty="0" smtClean="0"/>
              <a:t>• </a:t>
            </a:r>
            <a:r>
              <a:rPr lang="en-US" altLang="zh-CN" dirty="0"/>
              <a:t>Reading or writing a </a:t>
            </a:r>
            <a:r>
              <a:rPr lang="en-US" altLang="zh-CN" dirty="0" err="1"/>
              <a:t>doubleword</a:t>
            </a:r>
            <a:r>
              <a:rPr lang="en-US" altLang="zh-CN" dirty="0"/>
              <a:t> aligned on a 32-bit </a:t>
            </a:r>
            <a:r>
              <a:rPr lang="en-US" altLang="zh-CN" dirty="0" smtClean="0"/>
              <a:t>boundary </a:t>
            </a:r>
          </a:p>
          <a:p>
            <a:pPr marL="0" indent="0">
              <a:buNone/>
            </a:pPr>
            <a:endParaRPr lang="zh-CN" altLang="en-US" dirty="0"/>
          </a:p>
          <a:p>
            <a:pPr marL="0" indent="0">
              <a:buNone/>
            </a:pPr>
            <a:r>
              <a:rPr lang="zh-CN" altLang="en-US" dirty="0"/>
              <a:t>从</a:t>
            </a:r>
            <a:r>
              <a:rPr lang="en-US" altLang="zh-CN" dirty="0"/>
              <a:t>Pentium processor</a:t>
            </a:r>
            <a:r>
              <a:rPr lang="zh-CN" altLang="en-US" dirty="0"/>
              <a:t>开始</a:t>
            </a:r>
            <a:r>
              <a:rPr lang="zh-CN" altLang="en-US" dirty="0" smtClean="0"/>
              <a:t>，新增</a:t>
            </a:r>
            <a:r>
              <a:rPr lang="zh-CN" altLang="en-US" dirty="0"/>
              <a:t>了以下原子操作： </a:t>
            </a:r>
          </a:p>
          <a:p>
            <a:pPr marL="0" indent="0">
              <a:buNone/>
            </a:pPr>
            <a:r>
              <a:rPr lang="en-US" altLang="zh-CN" dirty="0"/>
              <a:t>• Reading or writing a </a:t>
            </a:r>
            <a:r>
              <a:rPr lang="en-US" altLang="zh-CN" dirty="0" err="1"/>
              <a:t>quadword</a:t>
            </a:r>
            <a:r>
              <a:rPr lang="en-US" altLang="zh-CN" dirty="0"/>
              <a:t> aligned on a 64-bit </a:t>
            </a:r>
            <a:r>
              <a:rPr lang="en-US" altLang="zh-CN" dirty="0" smtClean="0"/>
              <a:t>boundary</a:t>
            </a:r>
            <a:endParaRPr lang="zh-CN" altLang="en-US" dirty="0"/>
          </a:p>
          <a:p>
            <a:pPr marL="0" indent="0">
              <a:buNone/>
            </a:pPr>
            <a:r>
              <a:rPr lang="en-US" altLang="zh-CN" dirty="0"/>
              <a:t>• 16-bit accesses to </a:t>
            </a:r>
            <a:r>
              <a:rPr lang="en-US" altLang="zh-CN" dirty="0" err="1"/>
              <a:t>uncached</a:t>
            </a:r>
            <a:r>
              <a:rPr lang="en-US" altLang="zh-CN" dirty="0"/>
              <a:t> memory locations that fit within a 32-bit data </a:t>
            </a:r>
            <a:r>
              <a:rPr lang="en-US" altLang="zh-CN" dirty="0" smtClean="0"/>
              <a:t>bus</a:t>
            </a:r>
          </a:p>
          <a:p>
            <a:pPr marL="0" indent="0">
              <a:buNone/>
            </a:pPr>
            <a:endParaRPr lang="zh-CN" altLang="en-US" dirty="0"/>
          </a:p>
          <a:p>
            <a:pPr marL="0" indent="0">
              <a:buNone/>
            </a:pPr>
            <a:r>
              <a:rPr lang="zh-CN" altLang="en-US" dirty="0"/>
              <a:t>从</a:t>
            </a:r>
            <a:r>
              <a:rPr lang="en-US" altLang="zh-CN" dirty="0"/>
              <a:t>P6 family processors</a:t>
            </a:r>
            <a:r>
              <a:rPr lang="zh-CN" altLang="en-US" dirty="0" smtClean="0"/>
              <a:t>开始，新增</a:t>
            </a:r>
            <a:r>
              <a:rPr lang="zh-CN" altLang="en-US" dirty="0"/>
              <a:t>了以下原子操作： </a:t>
            </a:r>
          </a:p>
          <a:p>
            <a:pPr marL="0" indent="0">
              <a:buNone/>
            </a:pPr>
            <a:r>
              <a:rPr lang="en-US" altLang="zh-CN" dirty="0"/>
              <a:t>• Unaligned </a:t>
            </a:r>
            <a:r>
              <a:rPr lang="en-US" altLang="zh-CN" dirty="0" smtClean="0"/>
              <a:t>16, 32, </a:t>
            </a:r>
            <a:r>
              <a:rPr lang="en-US" altLang="zh-CN" dirty="0"/>
              <a:t>and 64-bit accesses to cached memory that fit within a cache </a:t>
            </a:r>
            <a:r>
              <a:rPr lang="en-US" altLang="zh-CN" dirty="0" smtClean="0"/>
              <a:t>line</a:t>
            </a:r>
          </a:p>
          <a:p>
            <a:pPr marL="0" indent="0">
              <a:buNone/>
            </a:pPr>
            <a:endParaRPr lang="en-US" altLang="zh-CN" dirty="0"/>
          </a:p>
          <a:p>
            <a:pPr marL="0" indent="0">
              <a:buNone/>
            </a:pPr>
            <a:r>
              <a:rPr lang="zh-CN" altLang="en-US" dirty="0"/>
              <a:t>那些被总线带宽、</a:t>
            </a:r>
            <a:r>
              <a:rPr lang="en-US" altLang="zh-CN" dirty="0"/>
              <a:t>cache line</a:t>
            </a:r>
            <a:r>
              <a:rPr lang="zh-CN" altLang="en-US" dirty="0"/>
              <a:t>以及</a:t>
            </a:r>
            <a:r>
              <a:rPr lang="en-US" altLang="zh-CN" dirty="0"/>
              <a:t>page</a:t>
            </a:r>
            <a:r>
              <a:rPr lang="zh-CN" altLang="en-US" dirty="0"/>
              <a:t>大小给分隔开了的内存地址的访问不是原子的，你</a:t>
            </a:r>
            <a:r>
              <a:rPr lang="zh-CN" altLang="en-US" dirty="0" smtClean="0"/>
              <a:t>如果想</a:t>
            </a:r>
            <a:r>
              <a:rPr lang="zh-CN" altLang="en-US" dirty="0"/>
              <a:t>保证这些操作是原子的，你就得求助于机制（</a:t>
            </a:r>
            <a:r>
              <a:rPr lang="en-US" altLang="zh-CN" dirty="0"/>
              <a:t>2</a:t>
            </a:r>
            <a:r>
              <a:rPr lang="zh-CN" altLang="en-US" dirty="0"/>
              <a:t>），对总线发出相应的控制信号才行</a:t>
            </a:r>
          </a:p>
        </p:txBody>
      </p:sp>
    </p:spTree>
    <p:extLst>
      <p:ext uri="{BB962C8B-B14F-4D97-AF65-F5344CB8AC3E}">
        <p14:creationId xmlns:p14="http://schemas.microsoft.com/office/powerpoint/2010/main" val="3677586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一、二、三级缓存</a:t>
            </a:r>
            <a:endParaRPr lang="zh-CN" altLang="en-US" dirty="0"/>
          </a:p>
        </p:txBody>
      </p:sp>
      <p:sp>
        <p:nvSpPr>
          <p:cNvPr id="3" name="内容占位符 2"/>
          <p:cNvSpPr>
            <a:spLocks noGrp="1"/>
          </p:cNvSpPr>
          <p:nvPr>
            <p:ph idx="1"/>
          </p:nvPr>
        </p:nvSpPr>
        <p:spPr/>
        <p:txBody>
          <a:bodyPr/>
          <a:lstStyle/>
          <a:p>
            <a:r>
              <a:rPr lang="zh-CN" altLang="en-US" dirty="0" smtClean="0"/>
              <a:t>单个核心独占一、二级缓存</a:t>
            </a:r>
            <a:endParaRPr lang="en-US" altLang="zh-CN" dirty="0" smtClean="0"/>
          </a:p>
          <a:p>
            <a:r>
              <a:rPr lang="zh-CN" altLang="en-US" dirty="0" smtClean="0"/>
              <a:t>单个物理核中所有核心共享三级缓存</a:t>
            </a:r>
            <a:endParaRPr lang="zh-CN" altLang="en-US" dirty="0"/>
          </a:p>
        </p:txBody>
      </p:sp>
      <p:pic>
        <p:nvPicPr>
          <p:cNvPr id="5" name="图片 4"/>
          <p:cNvPicPr>
            <a:picLocks noChangeAspect="1"/>
          </p:cNvPicPr>
          <p:nvPr/>
        </p:nvPicPr>
        <p:blipFill>
          <a:blip r:embed="rId2"/>
          <a:stretch>
            <a:fillRect/>
          </a:stretch>
        </p:blipFill>
        <p:spPr>
          <a:xfrm>
            <a:off x="6701414" y="3367087"/>
            <a:ext cx="4848225" cy="2562225"/>
          </a:xfrm>
          <a:prstGeom prst="rect">
            <a:avLst/>
          </a:prstGeom>
        </p:spPr>
      </p:pic>
    </p:spTree>
    <p:extLst>
      <p:ext uri="{BB962C8B-B14F-4D97-AF65-F5344CB8AC3E}">
        <p14:creationId xmlns:p14="http://schemas.microsoft.com/office/powerpoint/2010/main" val="758300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原子操作原语</a:t>
            </a:r>
            <a:endParaRPr lang="zh-CN" altLang="en-US" dirty="0"/>
          </a:p>
        </p:txBody>
      </p:sp>
      <p:sp>
        <p:nvSpPr>
          <p:cNvPr id="3" name="内容占位符 2"/>
          <p:cNvSpPr>
            <a:spLocks noGrp="1"/>
          </p:cNvSpPr>
          <p:nvPr>
            <p:ph idx="1"/>
          </p:nvPr>
        </p:nvSpPr>
        <p:spPr/>
        <p:txBody>
          <a:bodyPr/>
          <a:lstStyle/>
          <a:p>
            <a:r>
              <a:rPr lang="en-US" altLang="zh-CN" dirty="0" smtClean="0"/>
              <a:t>compare-and-exchange</a:t>
            </a:r>
          </a:p>
          <a:p>
            <a:r>
              <a:rPr lang="en-US" altLang="zh-CN" dirty="0" smtClean="0"/>
              <a:t>fetch-and-add</a:t>
            </a:r>
          </a:p>
          <a:p>
            <a:r>
              <a:rPr lang="en-US" altLang="zh-CN" dirty="0"/>
              <a:t>e</a:t>
            </a:r>
            <a:r>
              <a:rPr lang="en-US" altLang="zh-CN" dirty="0" smtClean="0"/>
              <a:t>xchange</a:t>
            </a:r>
          </a:p>
          <a:p>
            <a:r>
              <a:rPr lang="en-US" altLang="zh-CN" dirty="0"/>
              <a:t>l</a:t>
            </a:r>
            <a:r>
              <a:rPr lang="en-US" altLang="zh-CN" dirty="0" smtClean="0"/>
              <a:t>oad</a:t>
            </a:r>
          </a:p>
          <a:p>
            <a:r>
              <a:rPr lang="en-US" altLang="zh-CN" dirty="0"/>
              <a:t>store</a:t>
            </a:r>
            <a:endParaRPr lang="zh-CN" altLang="en-US" dirty="0"/>
          </a:p>
        </p:txBody>
      </p:sp>
      <p:sp>
        <p:nvSpPr>
          <p:cNvPr id="6" name="文本框 5"/>
          <p:cNvSpPr txBox="1"/>
          <p:nvPr/>
        </p:nvSpPr>
        <p:spPr>
          <a:xfrm>
            <a:off x="8613311" y="6523348"/>
            <a:ext cx="1979709" cy="369332"/>
          </a:xfrm>
          <a:prstGeom prst="rect">
            <a:avLst/>
          </a:prstGeom>
          <a:noFill/>
        </p:spPr>
        <p:txBody>
          <a:bodyPr wrap="none" rtlCol="0">
            <a:spAutoFit/>
          </a:bodyPr>
          <a:lstStyle/>
          <a:p>
            <a:r>
              <a:rPr lang="zh-CN" altLang="en-US" dirty="0" smtClean="0"/>
              <a:t>图</a:t>
            </a:r>
            <a:r>
              <a:rPr lang="en-US" altLang="zh-CN" dirty="0" smtClean="0"/>
              <a:t>1.3 </a:t>
            </a:r>
            <a:r>
              <a:rPr lang="en-US" altLang="zh-CN" dirty="0" err="1" smtClean="0"/>
              <a:t>cas</a:t>
            </a:r>
            <a:r>
              <a:rPr lang="zh-CN" altLang="en-US" dirty="0" smtClean="0"/>
              <a:t>原语实现</a:t>
            </a:r>
            <a:endParaRPr lang="zh-CN" altLang="en-US" dirty="0"/>
          </a:p>
        </p:txBody>
      </p:sp>
      <p:pic>
        <p:nvPicPr>
          <p:cNvPr id="8" name="图片 7"/>
          <p:cNvPicPr>
            <a:picLocks noChangeAspect="1"/>
          </p:cNvPicPr>
          <p:nvPr/>
        </p:nvPicPr>
        <p:blipFill>
          <a:blip r:embed="rId3"/>
          <a:stretch>
            <a:fillRect/>
          </a:stretch>
        </p:blipFill>
        <p:spPr>
          <a:xfrm>
            <a:off x="7410450" y="0"/>
            <a:ext cx="4781550" cy="6523348"/>
          </a:xfrm>
          <a:prstGeom prst="rect">
            <a:avLst/>
          </a:prstGeom>
        </p:spPr>
      </p:pic>
    </p:spTree>
    <p:extLst>
      <p:ext uri="{BB962C8B-B14F-4D97-AF65-F5344CB8AC3E}">
        <p14:creationId xmlns:p14="http://schemas.microsoft.com/office/powerpoint/2010/main" val="15125617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几种平台的原子操作</a:t>
            </a:r>
            <a:endParaRPr lang="zh-CN" altLang="en-US" dirty="0"/>
          </a:p>
        </p:txBody>
      </p:sp>
      <p:sp>
        <p:nvSpPr>
          <p:cNvPr id="3" name="内容占位符 2"/>
          <p:cNvSpPr>
            <a:spLocks noGrp="1"/>
          </p:cNvSpPr>
          <p:nvPr>
            <p:ph idx="1"/>
          </p:nvPr>
        </p:nvSpPr>
        <p:spPr/>
        <p:txBody>
          <a:bodyPr/>
          <a:lstStyle/>
          <a:p>
            <a:pPr algn="just">
              <a:lnSpc>
                <a:spcPct val="150000"/>
              </a:lnSpc>
            </a:pPr>
            <a:r>
              <a:rPr lang="zh-CN" altLang="en-US" sz="2400" dirty="0">
                <a:latin typeface="微软雅黑" panose="020B0503020204020204" pitchFamily="34" charset="-122"/>
                <a:ea typeface="微软雅黑" panose="020B0503020204020204" pitchFamily="34" charset="-122"/>
              </a:rPr>
              <a:t>Windows上InterlockedXXXX的</a:t>
            </a:r>
            <a:r>
              <a:rPr lang="zh-CN" altLang="en-US" sz="2400" dirty="0" smtClean="0">
                <a:latin typeface="微软雅黑" panose="020B0503020204020204" pitchFamily="34" charset="-122"/>
                <a:ea typeface="微软雅黑" panose="020B0503020204020204" pitchFamily="34" charset="-122"/>
              </a:rPr>
              <a:t>API</a:t>
            </a:r>
            <a:endParaRPr lang="zh-CN" altLang="en-US" sz="2400" dirty="0">
              <a:latin typeface="微软雅黑" panose="020B0503020204020204" pitchFamily="34" charset="-122"/>
              <a:ea typeface="微软雅黑" panose="020B0503020204020204" pitchFamily="34" charset="-122"/>
            </a:endParaRPr>
          </a:p>
          <a:p>
            <a:pPr algn="just">
              <a:lnSpc>
                <a:spcPct val="150000"/>
              </a:lnSpc>
            </a:pPr>
            <a:r>
              <a:rPr lang="zh-CN" altLang="en-US" sz="2400" dirty="0">
                <a:latin typeface="微软雅黑" panose="020B0503020204020204" pitchFamily="34" charset="-122"/>
                <a:ea typeface="微软雅黑" panose="020B0503020204020204" pitchFamily="34" charset="-122"/>
              </a:rPr>
              <a:t>GCC中的Atomic Builtins(__sync_fetch_and_add()等14个</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gn="just">
              <a:lnSpc>
                <a:spcPct val="150000"/>
              </a:lnSpc>
            </a:pPr>
            <a:r>
              <a:rPr lang="zh-CN" altLang="en-US" sz="2400" dirty="0">
                <a:latin typeface="微软雅黑" panose="020B0503020204020204" pitchFamily="34" charset="-122"/>
                <a:ea typeface="微软雅黑" panose="020B0503020204020204" pitchFamily="34" charset="-122"/>
              </a:rPr>
              <a:t>C++0x(C++11)中的atomic operation</a:t>
            </a:r>
          </a:p>
          <a:p>
            <a:pPr marL="0" indent="0">
              <a:buNone/>
            </a:pPr>
            <a:endParaRPr lang="zh-CN" altLang="en-US" dirty="0"/>
          </a:p>
        </p:txBody>
      </p:sp>
    </p:spTree>
    <p:extLst>
      <p:ext uri="{BB962C8B-B14F-4D97-AF65-F5344CB8AC3E}">
        <p14:creationId xmlns:p14="http://schemas.microsoft.com/office/powerpoint/2010/main" val="514300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GCC atomic</a:t>
            </a:r>
            <a:endParaRPr lang="zh-CN" altLang="en-US" dirty="0"/>
          </a:p>
        </p:txBody>
      </p:sp>
      <p:sp>
        <p:nvSpPr>
          <p:cNvPr id="3" name="内容占位符 2"/>
          <p:cNvSpPr>
            <a:spLocks noGrp="1"/>
          </p:cNvSpPr>
          <p:nvPr>
            <p:ph idx="1"/>
          </p:nvPr>
        </p:nvSpPr>
        <p:spPr/>
        <p:txBody>
          <a:bodyPr>
            <a:normAutofit fontScale="32500" lnSpcReduction="20000"/>
          </a:bodyPr>
          <a:lstStyle/>
          <a:p>
            <a:pPr algn="just">
              <a:lnSpc>
                <a:spcPct val="150000"/>
              </a:lnSpc>
            </a:pPr>
            <a:r>
              <a:rPr lang="zh-CN" altLang="zh-CN" dirty="0">
                <a:latin typeface="微软雅黑" panose="020B0503020204020204" pitchFamily="34" charset="-122"/>
                <a:ea typeface="微软雅黑" panose="020B0503020204020204" pitchFamily="34" charset="-122"/>
              </a:rPr>
              <a:t>type __sync_fetch_and_add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__sync_fetch_and_sub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__sync_fetch_and_or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__sync_fetch_and_and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__sync_fetch_and_xor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__sync_fetch_and_nand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__sync_add_and_fetch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__sync_sub_and_fetch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__sync_or_and_fetch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__sync_and_and_fetch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__sync_xor_and_fetch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type __sync_nand_and_fetch (type *ptr, type value);</a:t>
            </a:r>
          </a:p>
          <a:p>
            <a:pPr algn="just">
              <a:lnSpc>
                <a:spcPct val="150000"/>
              </a:lnSpc>
            </a:pPr>
            <a:r>
              <a:rPr lang="zh-CN" altLang="zh-CN" dirty="0">
                <a:latin typeface="微软雅黑" panose="020B0503020204020204" pitchFamily="34" charset="-122"/>
                <a:ea typeface="微软雅黑" panose="020B0503020204020204" pitchFamily="34" charset="-122"/>
              </a:rPr>
              <a:t>bool __sync_bool_compare_and_swap (type *ptr, type </a:t>
            </a:r>
            <a:r>
              <a:rPr lang="zh-CN" altLang="zh-CN" dirty="0" smtClean="0">
                <a:latin typeface="微软雅黑" panose="020B0503020204020204" pitchFamily="34" charset="-122"/>
                <a:ea typeface="微软雅黑" panose="020B0503020204020204" pitchFamily="34" charset="-122"/>
              </a:rPr>
              <a:t>oldval</a:t>
            </a:r>
            <a:r>
              <a:rPr lang="zh-CN" altLang="en-US" dirty="0" smtClean="0">
                <a:latin typeface="微软雅黑" panose="020B0503020204020204" pitchFamily="34" charset="-122"/>
                <a:ea typeface="微软雅黑" panose="020B0503020204020204" pitchFamily="34" charset="-122"/>
              </a:rPr>
              <a:t>，</a:t>
            </a:r>
            <a:r>
              <a:rPr lang="zh-CN" altLang="zh-CN" dirty="0" smtClean="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type newval, ...)</a:t>
            </a:r>
          </a:p>
          <a:p>
            <a:pPr algn="just">
              <a:lnSpc>
                <a:spcPct val="150000"/>
              </a:lnSpc>
            </a:pPr>
            <a:r>
              <a:rPr lang="zh-CN" altLang="zh-CN" dirty="0">
                <a:latin typeface="微软雅黑" panose="020B0503020204020204" pitchFamily="34" charset="-122"/>
                <a:ea typeface="微软雅黑" panose="020B0503020204020204" pitchFamily="34" charset="-122"/>
              </a:rPr>
              <a:t>type __sync_val_compare_and_swap (type *ptr, type </a:t>
            </a:r>
            <a:r>
              <a:rPr lang="zh-CN" altLang="zh-CN" dirty="0" smtClean="0">
                <a:latin typeface="微软雅黑" panose="020B0503020204020204" pitchFamily="34" charset="-122"/>
                <a:ea typeface="微软雅黑" panose="020B0503020204020204" pitchFamily="34" charset="-122"/>
              </a:rPr>
              <a:t>oldval</a:t>
            </a:r>
            <a:r>
              <a:rPr lang="zh-CN" altLang="en-US" dirty="0" smtClean="0">
                <a:latin typeface="微软雅黑" panose="020B0503020204020204" pitchFamily="34" charset="-122"/>
                <a:ea typeface="微软雅黑" panose="020B0503020204020204" pitchFamily="34" charset="-122"/>
              </a:rPr>
              <a:t>，</a:t>
            </a:r>
            <a:r>
              <a:rPr lang="zh-CN" altLang="zh-CN" dirty="0" smtClean="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type newval, ...)</a:t>
            </a:r>
          </a:p>
          <a:p>
            <a:endParaRPr lang="zh-CN" altLang="en-US" dirty="0"/>
          </a:p>
        </p:txBody>
      </p:sp>
    </p:spTree>
    <p:extLst>
      <p:ext uri="{BB962C8B-B14F-4D97-AF65-F5344CB8AC3E}">
        <p14:creationId xmlns:p14="http://schemas.microsoft.com/office/powerpoint/2010/main" val="3204338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C++11 atomic</a:t>
            </a:r>
            <a:endParaRPr lang="zh-CN" altLang="en-US" dirty="0"/>
          </a:p>
        </p:txBody>
      </p:sp>
      <p:pic>
        <p:nvPicPr>
          <p:cNvPr id="4" name="内容占位符 3"/>
          <p:cNvPicPr>
            <a:picLocks noGrp="1" noChangeAspect="1"/>
          </p:cNvPicPr>
          <p:nvPr>
            <p:ph idx="1"/>
          </p:nvPr>
        </p:nvPicPr>
        <p:blipFill>
          <a:blip r:embed="rId3"/>
          <a:stretch>
            <a:fillRect/>
          </a:stretch>
        </p:blipFill>
        <p:spPr>
          <a:xfrm>
            <a:off x="188536" y="2151618"/>
            <a:ext cx="6136850" cy="4583833"/>
          </a:xfrm>
          <a:prstGeom prst="rect">
            <a:avLst/>
          </a:prstGeom>
        </p:spPr>
      </p:pic>
      <p:pic>
        <p:nvPicPr>
          <p:cNvPr id="5" name="图片 4"/>
          <p:cNvPicPr>
            <a:picLocks noChangeAspect="1"/>
          </p:cNvPicPr>
          <p:nvPr/>
        </p:nvPicPr>
        <p:blipFill>
          <a:blip r:embed="rId4"/>
          <a:stretch>
            <a:fillRect/>
          </a:stretch>
        </p:blipFill>
        <p:spPr>
          <a:xfrm>
            <a:off x="6712297" y="165067"/>
            <a:ext cx="6360519" cy="6570384"/>
          </a:xfrm>
          <a:prstGeom prst="rect">
            <a:avLst/>
          </a:prstGeom>
        </p:spPr>
      </p:pic>
    </p:spTree>
    <p:extLst>
      <p:ext uri="{BB962C8B-B14F-4D97-AF65-F5344CB8AC3E}">
        <p14:creationId xmlns:p14="http://schemas.microsoft.com/office/powerpoint/2010/main" val="1711644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应用场景</a:t>
            </a:r>
            <a:endParaRPr lang="zh-CN" altLang="en-US" dirty="0"/>
          </a:p>
        </p:txBody>
      </p:sp>
      <p:sp>
        <p:nvSpPr>
          <p:cNvPr id="3" name="内容占位符 2"/>
          <p:cNvSpPr>
            <a:spLocks noGrp="1"/>
          </p:cNvSpPr>
          <p:nvPr>
            <p:ph idx="1"/>
          </p:nvPr>
        </p:nvSpPr>
        <p:spPr>
          <a:xfrm>
            <a:off x="838200" y="1825625"/>
            <a:ext cx="10448636" cy="4351338"/>
          </a:xfrm>
        </p:spPr>
        <p:txBody>
          <a:bodyPr>
            <a:normAutofit/>
          </a:bodyPr>
          <a:lstStyle/>
          <a:p>
            <a:r>
              <a:rPr lang="en-US" altLang="zh-CN" dirty="0" smtClean="0"/>
              <a:t>Wait-free </a:t>
            </a:r>
          </a:p>
          <a:p>
            <a:pPr marL="0" indent="0">
              <a:buNone/>
            </a:pPr>
            <a:r>
              <a:rPr lang="zh-CN" altLang="en-US" dirty="0"/>
              <a:t>略</a:t>
            </a:r>
            <a:endParaRPr lang="en-US" altLang="zh-CN" dirty="0" smtClean="0"/>
          </a:p>
          <a:p>
            <a:r>
              <a:rPr lang="en-US" altLang="zh-CN" dirty="0"/>
              <a:t>CAS</a:t>
            </a:r>
            <a:endParaRPr lang="en-US" altLang="zh-CN" dirty="0" smtClean="0"/>
          </a:p>
          <a:p>
            <a:pPr marL="0" indent="0">
              <a:buNone/>
            </a:pPr>
            <a:r>
              <a:rPr lang="zh-CN" altLang="en-US" dirty="0" smtClean="0">
                <a:solidFill>
                  <a:srgbClr val="FF0000"/>
                </a:solidFill>
              </a:rPr>
              <a:t>循环</a:t>
            </a:r>
            <a:r>
              <a:rPr lang="zh-CN" altLang="en-US" dirty="0" smtClean="0"/>
              <a:t>调用原子操作</a:t>
            </a:r>
            <a:r>
              <a:rPr lang="en-US" altLang="zh-CN" dirty="0" smtClean="0"/>
              <a:t>compare-and-swap</a:t>
            </a:r>
            <a:r>
              <a:rPr lang="zh-CN" altLang="en-US" dirty="0" smtClean="0"/>
              <a:t>，直到条件满足才执行业务逻辑</a:t>
            </a:r>
            <a:endParaRPr lang="en-US" altLang="zh-CN" dirty="0" smtClean="0"/>
          </a:p>
          <a:p>
            <a:r>
              <a:rPr lang="en-US" altLang="zh-CN" dirty="0" smtClean="0"/>
              <a:t>MVCC</a:t>
            </a:r>
          </a:p>
          <a:p>
            <a:pPr marL="0" indent="0">
              <a:buNone/>
            </a:pPr>
            <a:r>
              <a:rPr lang="zh-CN" altLang="en-US" dirty="0" smtClean="0"/>
              <a:t>是</a:t>
            </a:r>
            <a:r>
              <a:rPr lang="zh-CN" altLang="en-US" dirty="0"/>
              <a:t>一</a:t>
            </a:r>
            <a:r>
              <a:rPr lang="zh-CN" altLang="en-US" dirty="0" smtClean="0"/>
              <a:t>种基于</a:t>
            </a:r>
            <a:r>
              <a:rPr lang="en-US" altLang="zh-CN" dirty="0" smtClean="0"/>
              <a:t>CAS</a:t>
            </a:r>
            <a:r>
              <a:rPr lang="zh-CN" altLang="en-US" dirty="0" smtClean="0"/>
              <a:t>和</a:t>
            </a:r>
            <a:r>
              <a:rPr lang="en-US" altLang="zh-CN" dirty="0" smtClean="0">
                <a:solidFill>
                  <a:srgbClr val="FF0000"/>
                </a:solidFill>
              </a:rPr>
              <a:t>RMW</a:t>
            </a:r>
            <a:r>
              <a:rPr lang="en-US" altLang="zh-CN" dirty="0" smtClean="0"/>
              <a:t>(read-modify-write)</a:t>
            </a:r>
            <a:r>
              <a:rPr lang="zh-CN" altLang="en-US" dirty="0" smtClean="0"/>
              <a:t>思想有条件更新数据的并发机制。是</a:t>
            </a:r>
            <a:r>
              <a:rPr lang="zh-CN" altLang="en-US" dirty="0" smtClean="0">
                <a:solidFill>
                  <a:srgbClr val="FF0000"/>
                </a:solidFill>
              </a:rPr>
              <a:t>后</a:t>
            </a:r>
            <a:r>
              <a:rPr lang="zh-CN" altLang="en-US" dirty="0">
                <a:solidFill>
                  <a:srgbClr val="FF0000"/>
                </a:solidFill>
              </a:rPr>
              <a:t>验性</a:t>
            </a:r>
            <a:r>
              <a:rPr lang="zh-CN" altLang="en-US" dirty="0" smtClean="0"/>
              <a:t>的，</a:t>
            </a:r>
            <a:r>
              <a:rPr lang="zh-CN" altLang="en-US" dirty="0"/>
              <a:t>等到提交的时候才检验是否有冲突，由于没有锁，所以</a:t>
            </a:r>
            <a:r>
              <a:rPr lang="zh-CN" altLang="en-US" dirty="0" smtClean="0"/>
              <a:t>读写</a:t>
            </a:r>
            <a:r>
              <a:rPr lang="zh-CN" altLang="en-US" dirty="0"/>
              <a:t>都</a:t>
            </a:r>
            <a:r>
              <a:rPr lang="zh-CN" altLang="en-US" dirty="0" smtClean="0"/>
              <a:t>不会阻塞</a:t>
            </a:r>
            <a:r>
              <a:rPr lang="zh-CN" altLang="en-US" dirty="0"/>
              <a:t>，从而大大提升了并发性能。</a:t>
            </a:r>
            <a:endParaRPr lang="en-US" altLang="zh-CN" dirty="0" smtClean="0"/>
          </a:p>
          <a:p>
            <a:pPr marL="0" indent="0">
              <a:buNone/>
            </a:pPr>
            <a:endParaRPr lang="en-US" altLang="zh-CN" dirty="0"/>
          </a:p>
          <a:p>
            <a:pPr marL="0" indent="0">
              <a:buNone/>
            </a:pPr>
            <a:endParaRPr lang="zh-CN" altLang="en-US" dirty="0"/>
          </a:p>
        </p:txBody>
      </p:sp>
      <p:pic>
        <p:nvPicPr>
          <p:cNvPr id="4" name="图片 3"/>
          <p:cNvPicPr>
            <a:picLocks noChangeAspect="1"/>
          </p:cNvPicPr>
          <p:nvPr/>
        </p:nvPicPr>
        <p:blipFill>
          <a:blip r:embed="rId2"/>
          <a:stretch>
            <a:fillRect/>
          </a:stretch>
        </p:blipFill>
        <p:spPr>
          <a:xfrm>
            <a:off x="5444259" y="815975"/>
            <a:ext cx="5657850" cy="2019300"/>
          </a:xfrm>
          <a:prstGeom prst="rect">
            <a:avLst/>
          </a:prstGeom>
        </p:spPr>
      </p:pic>
    </p:spTree>
    <p:extLst>
      <p:ext uri="{BB962C8B-B14F-4D97-AF65-F5344CB8AC3E}">
        <p14:creationId xmlns:p14="http://schemas.microsoft.com/office/powerpoint/2010/main" val="4194239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demo</a:t>
            </a:r>
            <a:endParaRPr lang="zh-CN" altLang="en-US" dirty="0"/>
          </a:p>
        </p:txBody>
      </p:sp>
      <p:sp>
        <p:nvSpPr>
          <p:cNvPr id="3" name="内容占位符 2"/>
          <p:cNvSpPr>
            <a:spLocks noGrp="1"/>
          </p:cNvSpPr>
          <p:nvPr>
            <p:ph idx="1"/>
          </p:nvPr>
        </p:nvSpPr>
        <p:spPr/>
        <p:txBody>
          <a:bodyPr/>
          <a:lstStyle/>
          <a:p>
            <a:r>
              <a:rPr lang="zh-CN" altLang="en-US" dirty="0" smtClean="0"/>
              <a:t>几种原子</a:t>
            </a:r>
            <a:r>
              <a:rPr lang="zh-CN" altLang="en-US" dirty="0" smtClean="0"/>
              <a:t>操作、缓存行对齐</a:t>
            </a:r>
            <a:endParaRPr lang="en-US" altLang="zh-CN" dirty="0" smtClean="0"/>
          </a:p>
          <a:p>
            <a:pPr marL="0" indent="0">
              <a:buNone/>
            </a:pPr>
            <a:r>
              <a:rPr lang="zh-CN" altLang="en-US" dirty="0" smtClean="0"/>
              <a:t>和</a:t>
            </a:r>
            <a:r>
              <a:rPr lang="en-US" altLang="zh-CN" dirty="0" err="1" smtClean="0"/>
              <a:t>mutex</a:t>
            </a:r>
            <a:r>
              <a:rPr lang="zh-CN" altLang="en-US" dirty="0" smtClean="0"/>
              <a:t>比较</a:t>
            </a:r>
            <a:endParaRPr lang="zh-CN" altLang="en-US" dirty="0"/>
          </a:p>
        </p:txBody>
      </p:sp>
      <p:pic>
        <p:nvPicPr>
          <p:cNvPr id="6" name="图片 5"/>
          <p:cNvPicPr>
            <a:picLocks noChangeAspect="1"/>
          </p:cNvPicPr>
          <p:nvPr/>
        </p:nvPicPr>
        <p:blipFill>
          <a:blip r:embed="rId3"/>
          <a:stretch>
            <a:fillRect/>
          </a:stretch>
        </p:blipFill>
        <p:spPr>
          <a:xfrm>
            <a:off x="6904758" y="440171"/>
            <a:ext cx="4871605" cy="5981844"/>
          </a:xfrm>
          <a:prstGeom prst="rect">
            <a:avLst/>
          </a:prstGeom>
        </p:spPr>
      </p:pic>
      <p:graphicFrame>
        <p:nvGraphicFramePr>
          <p:cNvPr id="7" name="对象 6"/>
          <p:cNvGraphicFramePr>
            <a:graphicFrameLocks noChangeAspect="1"/>
          </p:cNvGraphicFramePr>
          <p:nvPr>
            <p:extLst>
              <p:ext uri="{D42A27DB-BD31-4B8C-83A1-F6EECF244321}">
                <p14:modId xmlns:p14="http://schemas.microsoft.com/office/powerpoint/2010/main" val="2779008326"/>
              </p:ext>
            </p:extLst>
          </p:nvPr>
        </p:nvGraphicFramePr>
        <p:xfrm>
          <a:off x="1255424" y="3645694"/>
          <a:ext cx="952500" cy="711200"/>
        </p:xfrm>
        <a:graphic>
          <a:graphicData uri="http://schemas.openxmlformats.org/presentationml/2006/ole">
            <mc:AlternateContent xmlns:mc="http://schemas.openxmlformats.org/markup-compatibility/2006">
              <mc:Choice xmlns:v="urn:schemas-microsoft-com:vml" Requires="v">
                <p:oleObj spid="_x0000_s1063" name="包装程序外壳对象" showAsIcon="1" r:id="rId4" imgW="952200" imgH="711360" progId="Package">
                  <p:embed/>
                </p:oleObj>
              </mc:Choice>
              <mc:Fallback>
                <p:oleObj name="包装程序外壳对象" showAsIcon="1" r:id="rId4" imgW="952200" imgH="711360" progId="Package">
                  <p:embed/>
                  <p:pic>
                    <p:nvPicPr>
                      <p:cNvPr id="0" name=""/>
                      <p:cNvPicPr/>
                      <p:nvPr/>
                    </p:nvPicPr>
                    <p:blipFill>
                      <a:blip r:embed="rId5"/>
                      <a:stretch>
                        <a:fillRect/>
                      </a:stretch>
                    </p:blipFill>
                    <p:spPr>
                      <a:xfrm>
                        <a:off x="1255424" y="3645694"/>
                        <a:ext cx="952500" cy="711200"/>
                      </a:xfrm>
                      <a:prstGeom prst="rect">
                        <a:avLst/>
                      </a:prstGeom>
                    </p:spPr>
                  </p:pic>
                </p:oleObj>
              </mc:Fallback>
            </mc:AlternateContent>
          </a:graphicData>
        </a:graphic>
      </p:graphicFrame>
    </p:spTree>
    <p:extLst>
      <p:ext uri="{BB962C8B-B14F-4D97-AF65-F5344CB8AC3E}">
        <p14:creationId xmlns:p14="http://schemas.microsoft.com/office/powerpoint/2010/main" val="3505289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17096" y="2564089"/>
            <a:ext cx="2309568" cy="1102937"/>
          </a:xfrm>
        </p:spPr>
        <p:txBody>
          <a:bodyPr>
            <a:normAutofit/>
          </a:bodyPr>
          <a:lstStyle/>
          <a:p>
            <a:pPr marL="0" indent="0" algn="ctr">
              <a:buNone/>
            </a:pPr>
            <a:r>
              <a:rPr lang="zh-CN" altLang="en-US" sz="4800" dirty="0" smtClean="0"/>
              <a:t>谢谢！</a:t>
            </a:r>
            <a:endParaRPr lang="zh-CN" altLang="en-US" sz="4800" dirty="0"/>
          </a:p>
        </p:txBody>
      </p:sp>
    </p:spTree>
    <p:extLst>
      <p:ext uri="{BB962C8B-B14F-4D97-AF65-F5344CB8AC3E}">
        <p14:creationId xmlns:p14="http://schemas.microsoft.com/office/powerpoint/2010/main" val="101072235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24204</TotalTime>
  <Words>1207</Words>
  <Application>Microsoft Office PowerPoint</Application>
  <PresentationFormat>宽屏</PresentationFormat>
  <Paragraphs>121</Paragraphs>
  <Slides>20</Slides>
  <Notes>5</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20</vt:i4>
      </vt:variant>
    </vt:vector>
  </HeadingPairs>
  <TitlesOfParts>
    <vt:vector size="28" baseType="lpstr">
      <vt:lpstr>宋体</vt:lpstr>
      <vt:lpstr>微软雅黑</vt:lpstr>
      <vt:lpstr>Arial</vt:lpstr>
      <vt:lpstr>Calibri</vt:lpstr>
      <vt:lpstr>Calibri Light</vt:lpstr>
      <vt:lpstr>Wingdings</vt:lpstr>
      <vt:lpstr>Office 主题</vt:lpstr>
      <vt:lpstr>程序包</vt:lpstr>
      <vt:lpstr>PowerPoint 演示文稿</vt:lpstr>
      <vt:lpstr>概要</vt:lpstr>
      <vt:lpstr>串行、并发与并行 </vt:lpstr>
      <vt:lpstr>并发级别</vt:lpstr>
      <vt:lpstr>Wait-free</vt:lpstr>
      <vt:lpstr>Lock-free</vt:lpstr>
      <vt:lpstr>Obstruction-free</vt:lpstr>
      <vt:lpstr>Blocking algorithms</vt:lpstr>
      <vt:lpstr>PowerPoint 演示文稿</vt:lpstr>
      <vt:lpstr>原子操作</vt:lpstr>
      <vt:lpstr>原子操作底层机制</vt:lpstr>
      <vt:lpstr>硬件原子操作 </vt:lpstr>
      <vt:lpstr>一、二、三级缓存</vt:lpstr>
      <vt:lpstr>原子操作原语</vt:lpstr>
      <vt:lpstr>几种平台的原子操作</vt:lpstr>
      <vt:lpstr>GCC atomic</vt:lpstr>
      <vt:lpstr>C++11 atomic</vt:lpstr>
      <vt:lpstr>应用场景</vt:lpstr>
      <vt:lpstr>demo</vt:lpstr>
      <vt:lpstr>PowerPoint 演示文稿</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PC</cp:lastModifiedBy>
  <cp:revision>253</cp:revision>
  <dcterms:created xsi:type="dcterms:W3CDTF">2016-06-03T08:24:04Z</dcterms:created>
  <dcterms:modified xsi:type="dcterms:W3CDTF">2016-07-08T09:55:04Z</dcterms:modified>
</cp:coreProperties>
</file>